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2" r:id="rId6"/>
    <p:sldId id="264" r:id="rId7"/>
    <p:sldId id="268" r:id="rId8"/>
    <p:sldId id="269" r:id="rId9"/>
    <p:sldId id="270" r:id="rId10"/>
    <p:sldId id="271" r:id="rId11"/>
    <p:sldId id="266" r:id="rId12"/>
    <p:sldId id="272" r:id="rId13"/>
    <p:sldId id="273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2" autoAdjust="0"/>
    <p:restoredTop sz="80970" autoAdjust="0"/>
  </p:normalViewPr>
  <p:slideViewPr>
    <p:cSldViewPr snapToGrid="0">
      <p:cViewPr varScale="1">
        <p:scale>
          <a:sx n="89" d="100"/>
          <a:sy n="89" d="100"/>
        </p:scale>
        <p:origin x="13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E24AF-586A-4FE1-83F0-F355D0BDB035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566F6-A1B2-4725-854C-2B837CD17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170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528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965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72E7E-4472-9C27-24CA-14359F32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6A8B87-2166-7666-23BC-FB33EB594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1C0FEA-D32D-29D6-EAF5-641048FB7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A6960-76AF-6355-B594-798B04F96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18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70B07-A0F9-5994-0C67-E374C7EC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5EBFDD-65BD-F001-ACC8-CAA7B275E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59BCBC-B18B-7A38-E1C6-9169E12BC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2D7851-DB3C-4F1D-3F3A-362A3B762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686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A735D-6F30-D57B-AE3C-0608CE70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004D7A-FD68-7A84-3748-357C02B2C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9E1812-D277-9003-C213-0AD7205B7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28EA35-3C23-C7BB-BA7F-A1B10B0F6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487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2EFE-22DF-1F25-B54E-258D757C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83A14A-AE28-130A-F288-F6F384358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6BE04C-0510-44A2-1AAA-C2661C672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17D1A3-B592-46BF-1412-53AE9EB50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223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DDB7-718E-7B48-3877-97B884C5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02E440-202D-20A2-296D-C3AB164C4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62975B-6FA3-669B-35FC-DD2FBC51E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4184B-1DEF-C85F-6998-124BEC596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804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EA4F6-C310-E584-B2B6-52FE0652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9C61D1-71B5-1859-EA66-28B23CE8A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93F8FF-154A-C5A6-36A4-2E155A8F8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832AA4-BC79-B797-FB69-6E531F038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144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76EDF-CBEE-C4AB-7091-D9E1FBCEC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FDF0DC-8A89-863B-BF00-8AD1CBA64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AD8305-29C2-2142-26D7-A2E66BB48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DA447-88E0-261A-14F2-E576E3B48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811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DE1E1-2BA4-A11F-3077-1C7A70FB0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17E112-CE09-AFAE-62AF-95115980C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6EF116-B2B5-E015-9E08-0FC9A4FDC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35C5EC-E522-54BD-C1EE-3CAB0DF33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724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BF9A-9720-B2AE-0276-0FCFBDC77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89130C-24D5-A76F-19AD-AB56A1988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A18C09-FFB8-6637-A6E5-D74C736C1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9B9C6B-5D74-539D-ADC9-69AF5A7E3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415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66AFF-7560-6C4C-1253-3CB4987DA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8670D3-3023-9272-1FB1-5F1310F20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1CCD11-4C6F-D26C-8F76-EA0AEBB49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94CC39-C915-ED35-741C-C2F488702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73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B57A-F077-2253-DB30-72997E2B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CEB067-028A-99AA-0D3B-601D6982B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66CFC0-E77B-7C8E-80D3-56A156983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A033F4-294D-6B41-9631-75290CD5D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337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C0EF0-F476-3C4E-9200-57421EF10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2149EE-2B7E-2789-BC28-968B36060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B6CE5E-D913-50A1-2E8F-371C9B81A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CD391D-2DA0-662B-F779-BD8CF18BA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566F6-A1B2-4725-854C-2B837CD175D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518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B382-A1B0-4475-9232-971644CD52C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199C-3BD1-47B0-99E3-6D5DD2880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097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B382-A1B0-4475-9232-971644CD52C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199C-3BD1-47B0-99E3-6D5DD2880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16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B382-A1B0-4475-9232-971644CD52C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199C-3BD1-47B0-99E3-6D5DD2880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46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B382-A1B0-4475-9232-971644CD52C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199C-3BD1-47B0-99E3-6D5DD2880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45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B382-A1B0-4475-9232-971644CD52C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199C-3BD1-47B0-99E3-6D5DD2880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98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B382-A1B0-4475-9232-971644CD52C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199C-3BD1-47B0-99E3-6D5DD2880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141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B382-A1B0-4475-9232-971644CD52C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199C-3BD1-47B0-99E3-6D5DD2880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855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B382-A1B0-4475-9232-971644CD52C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199C-3BD1-47B0-99E3-6D5DD2880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16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B382-A1B0-4475-9232-971644CD52C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199C-3BD1-47B0-99E3-6D5DD2880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8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B382-A1B0-4475-9232-971644CD52C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199C-3BD1-47B0-99E3-6D5DD2880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110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B382-A1B0-4475-9232-971644CD52C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199C-3BD1-47B0-99E3-6D5DD2880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96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0B382-A1B0-4475-9232-971644CD52CE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B199C-3BD1-47B0-99E3-6D5DD2880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1181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B5302-8E1E-BBDA-AC2C-28D29AF857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Device Memory TCP </a:t>
            </a:r>
            <a:r>
              <a:rPr lang="ko-KR" altLang="en-US" dirty="0"/>
              <a:t>를 통한 효율적인 데이터 전송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234FDC-A57D-4831-B067-391ADBEEE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문연수</a:t>
            </a:r>
          </a:p>
        </p:txBody>
      </p:sp>
    </p:spTree>
    <p:extLst>
      <p:ext uri="{BB962C8B-B14F-4D97-AF65-F5344CB8AC3E}">
        <p14:creationId xmlns:p14="http://schemas.microsoft.com/office/powerpoint/2010/main" val="4265201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8F368-34B0-7D80-F632-9B88BFB3C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EFFCC54C-894A-12D4-B52C-8B1D987BA905}"/>
              </a:ext>
            </a:extLst>
          </p:cNvPr>
          <p:cNvSpPr/>
          <p:nvPr/>
        </p:nvSpPr>
        <p:spPr>
          <a:xfrm>
            <a:off x="4897395" y="1285103"/>
            <a:ext cx="2397210" cy="1081217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Host Memory</a:t>
            </a:r>
            <a:endParaRPr lang="ko-KR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0A80011A-8ED9-2E20-5A26-ABEFC9BF8466}"/>
              </a:ext>
            </a:extLst>
          </p:cNvPr>
          <p:cNvSpPr/>
          <p:nvPr/>
        </p:nvSpPr>
        <p:spPr>
          <a:xfrm>
            <a:off x="2500185" y="4491681"/>
            <a:ext cx="2397210" cy="1081217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NIC</a:t>
            </a:r>
            <a:endParaRPr lang="ko-KR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A5F62F2C-790F-65EB-2D75-CE57C2B07156}"/>
              </a:ext>
            </a:extLst>
          </p:cNvPr>
          <p:cNvSpPr/>
          <p:nvPr/>
        </p:nvSpPr>
        <p:spPr>
          <a:xfrm>
            <a:off x="7294605" y="4491681"/>
            <a:ext cx="2397210" cy="1081217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HDD / SSD</a:t>
            </a:r>
            <a:endParaRPr lang="ko-KR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88798B4-9E88-B9C6-961B-195E2DBE2269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3698790" y="2366320"/>
            <a:ext cx="2397210" cy="212536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11CB45D-1966-BFDC-D581-B4606F306DC6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096000" y="2366320"/>
            <a:ext cx="2397210" cy="212536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AFC93507-DAF9-CD8C-E082-3509B5E69A74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0" y="5032290"/>
            <a:ext cx="2500185" cy="0"/>
          </a:xfrm>
          <a:prstGeom prst="straightConnector1">
            <a:avLst/>
          </a:prstGeom>
          <a:ln w="635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46C163C2-B0D5-EA6A-3B24-B8FE6ECC47E6}"/>
              </a:ext>
            </a:extLst>
          </p:cNvPr>
          <p:cNvSpPr/>
          <p:nvPr/>
        </p:nvSpPr>
        <p:spPr>
          <a:xfrm>
            <a:off x="533230" y="4633448"/>
            <a:ext cx="1433725" cy="797680"/>
          </a:xfrm>
          <a:prstGeom prst="flowChartConnector">
            <a:avLst/>
          </a:prstGeom>
          <a:solidFill>
            <a:srgbClr val="00B0F0">
              <a:alpha val="90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packet</a:t>
            </a:r>
            <a:endParaRPr lang="ko-KR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19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72E0F-0C99-994F-3DF1-50A617FB2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51755164-6177-0A44-EB63-9A525563E097}"/>
              </a:ext>
            </a:extLst>
          </p:cNvPr>
          <p:cNvSpPr/>
          <p:nvPr/>
        </p:nvSpPr>
        <p:spPr>
          <a:xfrm>
            <a:off x="4897395" y="1285103"/>
            <a:ext cx="2397210" cy="1081217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Host Memory</a:t>
            </a:r>
            <a:endParaRPr lang="ko-KR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2A181D08-4FDA-9946-468A-5CE7AF0D046F}"/>
              </a:ext>
            </a:extLst>
          </p:cNvPr>
          <p:cNvSpPr/>
          <p:nvPr/>
        </p:nvSpPr>
        <p:spPr>
          <a:xfrm>
            <a:off x="2500185" y="4491680"/>
            <a:ext cx="2397210" cy="1081217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NIC</a:t>
            </a:r>
            <a:endParaRPr lang="ko-KR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5B9FF3B1-E751-2C60-E8F3-9E34DC5E2A1F}"/>
              </a:ext>
            </a:extLst>
          </p:cNvPr>
          <p:cNvSpPr/>
          <p:nvPr/>
        </p:nvSpPr>
        <p:spPr>
          <a:xfrm>
            <a:off x="7294605" y="4491680"/>
            <a:ext cx="2397210" cy="1081217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HDD / SSD</a:t>
            </a:r>
            <a:endParaRPr lang="ko-KR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1659619-F40E-F2F9-322E-8E36AA5D88B2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3698790" y="2366320"/>
            <a:ext cx="2397210" cy="2125360"/>
          </a:xfrm>
          <a:prstGeom prst="straightConnector1">
            <a:avLst/>
          </a:prstGeom>
          <a:ln w="63500">
            <a:solidFill>
              <a:schemeClr val="tx1">
                <a:alpha val="50000"/>
              </a:schemeClr>
            </a:solidFill>
            <a:prstDash val="sysDot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17C5D7F-D9EC-23D9-12BE-F7CE0D4516EE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096000" y="2366320"/>
            <a:ext cx="2397210" cy="2125360"/>
          </a:xfrm>
          <a:prstGeom prst="straightConnector1">
            <a:avLst/>
          </a:prstGeom>
          <a:ln w="63500">
            <a:solidFill>
              <a:schemeClr val="tx1">
                <a:alpha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47219884-7A51-4BAE-603B-1EF7E0206794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0" y="5032289"/>
            <a:ext cx="2500185" cy="0"/>
          </a:xfrm>
          <a:prstGeom prst="straightConnector1">
            <a:avLst/>
          </a:prstGeom>
          <a:ln w="635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74A9BE18-C4FB-C5BE-AD3B-AD6DCFFD9380}"/>
              </a:ext>
            </a:extLst>
          </p:cNvPr>
          <p:cNvSpPr/>
          <p:nvPr/>
        </p:nvSpPr>
        <p:spPr>
          <a:xfrm>
            <a:off x="533230" y="4633448"/>
            <a:ext cx="1433725" cy="797680"/>
          </a:xfrm>
          <a:prstGeom prst="flowChartConnector">
            <a:avLst/>
          </a:prstGeom>
          <a:solidFill>
            <a:srgbClr val="00B0F0">
              <a:alpha val="90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packet</a:t>
            </a:r>
            <a:endParaRPr lang="ko-KR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90F4899-807E-C579-928F-CC4F5CE1F60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897395" y="5032289"/>
            <a:ext cx="2397210" cy="0"/>
          </a:xfrm>
          <a:prstGeom prst="straightConnector1">
            <a:avLst/>
          </a:prstGeom>
          <a:ln w="635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49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D8D1-C48E-8CA5-D13A-740E8550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0A0212E2-A4C6-0F13-6BF4-39A0AA9A3F11}"/>
              </a:ext>
            </a:extLst>
          </p:cNvPr>
          <p:cNvSpPr/>
          <p:nvPr/>
        </p:nvSpPr>
        <p:spPr>
          <a:xfrm>
            <a:off x="4897395" y="259492"/>
            <a:ext cx="2397210" cy="1081217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CPU</a:t>
            </a:r>
            <a:endParaRPr lang="ko-KR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11E8C4EF-039F-83E1-EB84-CBCB27B16DB2}"/>
              </a:ext>
            </a:extLst>
          </p:cNvPr>
          <p:cNvSpPr/>
          <p:nvPr/>
        </p:nvSpPr>
        <p:spPr>
          <a:xfrm>
            <a:off x="1610498" y="5294869"/>
            <a:ext cx="2397210" cy="1081217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NIC</a:t>
            </a:r>
            <a:endParaRPr lang="ko-KR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824EE88-8C36-39E0-3092-25C6976ED85F}"/>
              </a:ext>
            </a:extLst>
          </p:cNvPr>
          <p:cNvSpPr/>
          <p:nvPr/>
        </p:nvSpPr>
        <p:spPr>
          <a:xfrm>
            <a:off x="8493210" y="5294868"/>
            <a:ext cx="2397210" cy="1081217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HDD / SSD</a:t>
            </a:r>
            <a:endParaRPr lang="ko-KR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1AAEECD3-B21A-7817-B572-C0FAD3505FE2}"/>
              </a:ext>
            </a:extLst>
          </p:cNvPr>
          <p:cNvSpPr/>
          <p:nvPr/>
        </p:nvSpPr>
        <p:spPr>
          <a:xfrm>
            <a:off x="4897395" y="5294868"/>
            <a:ext cx="2397210" cy="1081217"/>
          </a:xfrm>
          <a:prstGeom prst="flowChart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GPU</a:t>
            </a:r>
            <a:endParaRPr lang="ko-KR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4D34C3B-0557-1878-6DD8-1CB3F313CCEA}"/>
              </a:ext>
            </a:extLst>
          </p:cNvPr>
          <p:cNvSpPr/>
          <p:nvPr/>
        </p:nvSpPr>
        <p:spPr>
          <a:xfrm>
            <a:off x="4897395" y="2741655"/>
            <a:ext cx="2397210" cy="1374689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PCIe</a:t>
            </a:r>
          </a:p>
          <a:p>
            <a:pPr algn="ctr"/>
            <a:r>
              <a:rPr lang="en-US" altLang="ko-KR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switch</a:t>
            </a:r>
            <a:endParaRPr lang="ko-KR" alt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7C01AB0-9897-0BC5-79FB-9D2A2AF96A78}"/>
              </a:ext>
            </a:extLst>
          </p:cNvPr>
          <p:cNvCxnSpPr>
            <a:cxnSpLocks/>
            <a:stCxn id="18" idx="0"/>
            <a:endCxn id="21" idx="4"/>
          </p:cNvCxnSpPr>
          <p:nvPr/>
        </p:nvCxnSpPr>
        <p:spPr>
          <a:xfrm flipV="1">
            <a:off x="6096000" y="4116344"/>
            <a:ext cx="0" cy="1178524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D6C4822-3359-2064-2E37-5EA007F55469}"/>
              </a:ext>
            </a:extLst>
          </p:cNvPr>
          <p:cNvCxnSpPr>
            <a:cxnSpLocks/>
            <a:stCxn id="7" idx="0"/>
            <a:endCxn id="21" idx="4"/>
          </p:cNvCxnSpPr>
          <p:nvPr/>
        </p:nvCxnSpPr>
        <p:spPr>
          <a:xfrm flipH="1" flipV="1">
            <a:off x="6096000" y="4116344"/>
            <a:ext cx="3595815" cy="1178524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88F6B78-ECAE-3894-2671-4A9374F0F729}"/>
              </a:ext>
            </a:extLst>
          </p:cNvPr>
          <p:cNvCxnSpPr>
            <a:cxnSpLocks/>
            <a:stCxn id="21" idx="0"/>
            <a:endCxn id="4" idx="2"/>
          </p:cNvCxnSpPr>
          <p:nvPr/>
        </p:nvCxnSpPr>
        <p:spPr>
          <a:xfrm flipV="1">
            <a:off x="6096000" y="1340709"/>
            <a:ext cx="0" cy="1400946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자유형: 도형 117">
            <a:extLst>
              <a:ext uri="{FF2B5EF4-FFF2-40B4-BE49-F238E27FC236}">
                <a16:creationId xmlns:a16="http://schemas.microsoft.com/office/drawing/2014/main" id="{C71635E9-EEDE-D300-9BB2-EAFA9846ECE0}"/>
              </a:ext>
            </a:extLst>
          </p:cNvPr>
          <p:cNvSpPr/>
          <p:nvPr/>
        </p:nvSpPr>
        <p:spPr>
          <a:xfrm>
            <a:off x="2809097" y="4374292"/>
            <a:ext cx="3286897" cy="920576"/>
          </a:xfrm>
          <a:custGeom>
            <a:avLst/>
            <a:gdLst>
              <a:gd name="connsiteX0" fmla="*/ 0 w 3410465"/>
              <a:gd name="connsiteY0" fmla="*/ 1544904 h 1544904"/>
              <a:gd name="connsiteX1" fmla="*/ 1668162 w 3410465"/>
              <a:gd name="connsiteY1" fmla="*/ 310 h 1544904"/>
              <a:gd name="connsiteX2" fmla="*/ 3113903 w 3410465"/>
              <a:gd name="connsiteY2" fmla="*/ 1408980 h 1544904"/>
              <a:gd name="connsiteX3" fmla="*/ 3410465 w 3410465"/>
              <a:gd name="connsiteY3" fmla="*/ 1248342 h 1544904"/>
              <a:gd name="connsiteX0" fmla="*/ 0 w 3410465"/>
              <a:gd name="connsiteY0" fmla="*/ 1544849 h 1544849"/>
              <a:gd name="connsiteX1" fmla="*/ 1668162 w 3410465"/>
              <a:gd name="connsiteY1" fmla="*/ 255 h 1544849"/>
              <a:gd name="connsiteX2" fmla="*/ 3015049 w 3410465"/>
              <a:gd name="connsiteY2" fmla="*/ 1421282 h 1544849"/>
              <a:gd name="connsiteX3" fmla="*/ 3410465 w 3410465"/>
              <a:gd name="connsiteY3" fmla="*/ 1248287 h 1544849"/>
              <a:gd name="connsiteX0" fmla="*/ 0 w 3410465"/>
              <a:gd name="connsiteY0" fmla="*/ 1546302 h 1546302"/>
              <a:gd name="connsiteX1" fmla="*/ 1668162 w 3410465"/>
              <a:gd name="connsiteY1" fmla="*/ 1708 h 1546302"/>
              <a:gd name="connsiteX2" fmla="*/ 3410465 w 3410465"/>
              <a:gd name="connsiteY2" fmla="*/ 1249740 h 1546302"/>
              <a:gd name="connsiteX0" fmla="*/ 0 w 3225114"/>
              <a:gd name="connsiteY0" fmla="*/ 1545510 h 1545510"/>
              <a:gd name="connsiteX1" fmla="*/ 1668162 w 3225114"/>
              <a:gd name="connsiteY1" fmla="*/ 916 h 1545510"/>
              <a:gd name="connsiteX2" fmla="*/ 3225114 w 3225114"/>
              <a:gd name="connsiteY2" fmla="*/ 1323088 h 1545510"/>
              <a:gd name="connsiteX0" fmla="*/ 0 w 2829698"/>
              <a:gd name="connsiteY0" fmla="*/ 1544594 h 1544594"/>
              <a:gd name="connsiteX1" fmla="*/ 1668162 w 2829698"/>
              <a:gd name="connsiteY1" fmla="*/ 0 h 1544594"/>
              <a:gd name="connsiteX2" fmla="*/ 2829698 w 2829698"/>
              <a:gd name="connsiteY2" fmla="*/ 1544594 h 1544594"/>
              <a:gd name="connsiteX0" fmla="*/ 0 w 2829698"/>
              <a:gd name="connsiteY0" fmla="*/ 1544594 h 1544594"/>
              <a:gd name="connsiteX1" fmla="*/ 1668162 w 2829698"/>
              <a:gd name="connsiteY1" fmla="*/ 0 h 1544594"/>
              <a:gd name="connsiteX2" fmla="*/ 2829698 w 2829698"/>
              <a:gd name="connsiteY2" fmla="*/ 1544594 h 1544594"/>
              <a:gd name="connsiteX0" fmla="*/ 0 w 2965622"/>
              <a:gd name="connsiteY0" fmla="*/ 1544639 h 1544639"/>
              <a:gd name="connsiteX1" fmla="*/ 1668162 w 2965622"/>
              <a:gd name="connsiteY1" fmla="*/ 45 h 1544639"/>
              <a:gd name="connsiteX2" fmla="*/ 2965622 w 2965622"/>
              <a:gd name="connsiteY2" fmla="*/ 1495212 h 1544639"/>
              <a:gd name="connsiteX0" fmla="*/ 0 w 2965622"/>
              <a:gd name="connsiteY0" fmla="*/ 1544594 h 1544594"/>
              <a:gd name="connsiteX1" fmla="*/ 1668162 w 2965622"/>
              <a:gd name="connsiteY1" fmla="*/ 0 h 1544594"/>
              <a:gd name="connsiteX2" fmla="*/ 2965622 w 2965622"/>
              <a:gd name="connsiteY2" fmla="*/ 1544594 h 1544594"/>
              <a:gd name="connsiteX0" fmla="*/ 0 w 2965622"/>
              <a:gd name="connsiteY0" fmla="*/ 732135 h 732135"/>
              <a:gd name="connsiteX1" fmla="*/ 1746204 w 2965622"/>
              <a:gd name="connsiteY1" fmla="*/ 146 h 732135"/>
              <a:gd name="connsiteX2" fmla="*/ 2965622 w 2965622"/>
              <a:gd name="connsiteY2" fmla="*/ 732135 h 732135"/>
              <a:gd name="connsiteX0" fmla="*/ 0 w 2965622"/>
              <a:gd name="connsiteY0" fmla="*/ 441970 h 441970"/>
              <a:gd name="connsiteX1" fmla="*/ 1478629 w 2965622"/>
              <a:gd name="connsiteY1" fmla="*/ 133573 h 441970"/>
              <a:gd name="connsiteX2" fmla="*/ 2965622 w 2965622"/>
              <a:gd name="connsiteY2" fmla="*/ 441970 h 441970"/>
              <a:gd name="connsiteX0" fmla="*/ 0 w 2965622"/>
              <a:gd name="connsiteY0" fmla="*/ 314359 h 314359"/>
              <a:gd name="connsiteX1" fmla="*/ 1478629 w 2965622"/>
              <a:gd name="connsiteY1" fmla="*/ 5962 h 314359"/>
              <a:gd name="connsiteX2" fmla="*/ 2965622 w 2965622"/>
              <a:gd name="connsiteY2" fmla="*/ 314359 h 314359"/>
              <a:gd name="connsiteX0" fmla="*/ 0 w 2987919"/>
              <a:gd name="connsiteY0" fmla="*/ 312198 h 320842"/>
              <a:gd name="connsiteX1" fmla="*/ 1478629 w 2987919"/>
              <a:gd name="connsiteY1" fmla="*/ 3801 h 320842"/>
              <a:gd name="connsiteX2" fmla="*/ 2987919 w 2987919"/>
              <a:gd name="connsiteY2" fmla="*/ 320842 h 320842"/>
              <a:gd name="connsiteX0" fmla="*/ 0 w 2987919"/>
              <a:gd name="connsiteY0" fmla="*/ 308595 h 317239"/>
              <a:gd name="connsiteX1" fmla="*/ 1478629 w 2987919"/>
              <a:gd name="connsiteY1" fmla="*/ 198 h 317239"/>
              <a:gd name="connsiteX2" fmla="*/ 2987919 w 2987919"/>
              <a:gd name="connsiteY2" fmla="*/ 317239 h 317239"/>
              <a:gd name="connsiteX0" fmla="*/ 0 w 2987919"/>
              <a:gd name="connsiteY0" fmla="*/ 377577 h 386221"/>
              <a:gd name="connsiteX1" fmla="*/ 1556672 w 2987919"/>
              <a:gd name="connsiteY1" fmla="*/ 22 h 386221"/>
              <a:gd name="connsiteX2" fmla="*/ 2987919 w 2987919"/>
              <a:gd name="connsiteY2" fmla="*/ 386221 h 386221"/>
              <a:gd name="connsiteX0" fmla="*/ 0 w 2965621"/>
              <a:gd name="connsiteY0" fmla="*/ 377577 h 386221"/>
              <a:gd name="connsiteX1" fmla="*/ 1556672 w 2965621"/>
              <a:gd name="connsiteY1" fmla="*/ 22 h 386221"/>
              <a:gd name="connsiteX2" fmla="*/ 2965621 w 2965621"/>
              <a:gd name="connsiteY2" fmla="*/ 386221 h 386221"/>
              <a:gd name="connsiteX0" fmla="*/ 0 w 2965621"/>
              <a:gd name="connsiteY0" fmla="*/ 377577 h 386221"/>
              <a:gd name="connsiteX1" fmla="*/ 1556672 w 2965621"/>
              <a:gd name="connsiteY1" fmla="*/ 22 h 386221"/>
              <a:gd name="connsiteX2" fmla="*/ 2965621 w 2965621"/>
              <a:gd name="connsiteY2" fmla="*/ 386221 h 386221"/>
              <a:gd name="connsiteX0" fmla="*/ 0 w 2965621"/>
              <a:gd name="connsiteY0" fmla="*/ 377580 h 386224"/>
              <a:gd name="connsiteX1" fmla="*/ 1556672 w 2965621"/>
              <a:gd name="connsiteY1" fmla="*/ 25 h 386224"/>
              <a:gd name="connsiteX2" fmla="*/ 2965621 w 2965621"/>
              <a:gd name="connsiteY2" fmla="*/ 386224 h 386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5621" h="386224">
                <a:moveTo>
                  <a:pt x="0" y="377580"/>
                </a:moveTo>
                <a:cubicBezTo>
                  <a:pt x="741822" y="57491"/>
                  <a:pt x="1062402" y="-1416"/>
                  <a:pt x="1556672" y="25"/>
                </a:cubicBezTo>
                <a:cubicBezTo>
                  <a:pt x="2050942" y="1466"/>
                  <a:pt x="2378825" y="132321"/>
                  <a:pt x="2965621" y="386224"/>
                </a:cubicBezTo>
              </a:path>
            </a:pathLst>
          </a:custGeom>
          <a:noFill/>
          <a:ln w="63500">
            <a:solidFill>
              <a:srgbClr val="FF0000">
                <a:alpha val="95000"/>
              </a:srgbClr>
            </a:solidFill>
            <a:headEnd type="none" w="sm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CF55374-27E6-4744-A6DA-A5C91BA6340F}"/>
              </a:ext>
            </a:extLst>
          </p:cNvPr>
          <p:cNvCxnSpPr>
            <a:cxnSpLocks/>
            <a:stCxn id="6" idx="0"/>
            <a:endCxn id="21" idx="4"/>
          </p:cNvCxnSpPr>
          <p:nvPr/>
        </p:nvCxnSpPr>
        <p:spPr>
          <a:xfrm flipV="1">
            <a:off x="2809103" y="4116344"/>
            <a:ext cx="3286897" cy="1178525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연결선: 구부러짐 121">
            <a:extLst>
              <a:ext uri="{FF2B5EF4-FFF2-40B4-BE49-F238E27FC236}">
                <a16:creationId xmlns:a16="http://schemas.microsoft.com/office/drawing/2014/main" id="{4D1937E6-785E-8F73-EAB0-5AD3DCB201EE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rot="5400000" flipH="1" flipV="1">
            <a:off x="2475471" y="1674341"/>
            <a:ext cx="3954160" cy="3286897"/>
          </a:xfrm>
          <a:prstGeom prst="curvedConnector3">
            <a:avLst>
              <a:gd name="adj1" fmla="val 65000"/>
            </a:avLst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062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87C83-FF50-B400-0D63-85266CD2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4D8A85A-F2D9-F451-D194-6AA08F322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Requirements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E5159E1-7726-9EE7-FFD6-D291B8077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78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NIC</a:t>
            </a:r>
          </a:p>
          <a:p>
            <a:r>
              <a:rPr lang="en-US" altLang="ko-KR" dirty="0"/>
              <a:t>Header split</a:t>
            </a:r>
          </a:p>
          <a:p>
            <a:r>
              <a:rPr lang="en-US" altLang="ko-KR" dirty="0"/>
              <a:t>Flow steering</a:t>
            </a:r>
          </a:p>
          <a:p>
            <a:r>
              <a:rPr lang="en-US" altLang="ko-KR" dirty="0"/>
              <a:t>RSS</a:t>
            </a:r>
          </a:p>
        </p:txBody>
      </p:sp>
      <p:sp>
        <p:nvSpPr>
          <p:cNvPr id="3" name="내용 개체 틀 7">
            <a:extLst>
              <a:ext uri="{FF2B5EF4-FFF2-40B4-BE49-F238E27FC236}">
                <a16:creationId xmlns:a16="http://schemas.microsoft.com/office/drawing/2014/main" id="{A1BA0D77-C4E8-A4CC-6E97-3F0F82B22D94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GPU</a:t>
            </a:r>
          </a:p>
          <a:p>
            <a:r>
              <a:rPr lang="en-US" altLang="ko-KR" dirty="0" err="1"/>
              <a:t>dmabuf</a:t>
            </a:r>
            <a:r>
              <a:rPr lang="en-US" altLang="ko-KR" dirty="0"/>
              <a:t> interface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System</a:t>
            </a:r>
          </a:p>
          <a:p>
            <a:r>
              <a:rPr lang="en-US" altLang="ko-KR" dirty="0"/>
              <a:t>page pool</a:t>
            </a:r>
          </a:p>
        </p:txBody>
      </p:sp>
    </p:spTree>
    <p:extLst>
      <p:ext uri="{BB962C8B-B14F-4D97-AF65-F5344CB8AC3E}">
        <p14:creationId xmlns:p14="http://schemas.microsoft.com/office/powerpoint/2010/main" val="98501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4F587-0D11-0FE7-92D5-2C7A136D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84496513-900F-051F-98AF-39D944369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NIC</a:t>
            </a:r>
            <a:r>
              <a:rPr lang="ko-KR" altLang="en-US" dirty="0"/>
              <a:t> </a:t>
            </a:r>
            <a:r>
              <a:rPr lang="en-US" altLang="ko-KR" dirty="0"/>
              <a:t>Setup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27CD50D-A670-3905-9142-49C8D870D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# enable header split</a:t>
            </a:r>
          </a:p>
          <a:p>
            <a:pPr marL="0" indent="0">
              <a:buNone/>
            </a:pPr>
            <a:r>
              <a:rPr lang="en-US" altLang="ko-KR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ethtool</a:t>
            </a:r>
            <a:r>
              <a:rPr lang="ko-KR" alt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ko-KR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–G</a:t>
            </a:r>
            <a:r>
              <a:rPr lang="ko-KR" alt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ko-KR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eth1 </a:t>
            </a:r>
            <a:r>
              <a:rPr lang="en-US" altLang="ko-KR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tcp</a:t>
            </a:r>
            <a:r>
              <a:rPr lang="en-US" altLang="ko-KR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-data-split on</a:t>
            </a:r>
          </a:p>
          <a:p>
            <a:pPr marL="0" indent="0">
              <a:buNone/>
            </a:pPr>
            <a:endParaRPr lang="en-US" altLang="ko-KR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# enable flow steering</a:t>
            </a:r>
          </a:p>
          <a:p>
            <a:pPr marL="0" indent="0">
              <a:buNone/>
            </a:pPr>
            <a:r>
              <a:rPr lang="en-US" altLang="ko-KR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ethtool</a:t>
            </a:r>
            <a:r>
              <a:rPr lang="en-US" altLang="ko-KR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–K eth1 </a:t>
            </a:r>
            <a:r>
              <a:rPr lang="en-US" altLang="ko-KR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ntuple</a:t>
            </a:r>
            <a:r>
              <a:rPr lang="en-US" altLang="ko-KR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on</a:t>
            </a:r>
          </a:p>
          <a:p>
            <a:pPr marL="0" indent="0">
              <a:buNone/>
            </a:pPr>
            <a:endParaRPr lang="en-US" altLang="ko-KR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altLang="ko-KR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# set RSS</a:t>
            </a:r>
          </a:p>
          <a:p>
            <a:pPr marL="0" indent="0">
              <a:buNone/>
            </a:pPr>
            <a:r>
              <a:rPr lang="en-US" altLang="ko-KR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ethtool</a:t>
            </a:r>
            <a:r>
              <a:rPr lang="en-US" altLang="ko-KR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–set-</a:t>
            </a:r>
            <a:r>
              <a:rPr lang="en-US" altLang="ko-KR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rxfh</a:t>
            </a:r>
            <a:r>
              <a:rPr lang="en-US" altLang="ko-KR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ko-KR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indir</a:t>
            </a:r>
            <a:r>
              <a:rPr lang="en-US" altLang="ko-KR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eth1 equal 15</a:t>
            </a:r>
          </a:p>
          <a:p>
            <a:pPr marL="0" indent="0">
              <a:buNone/>
            </a:pPr>
            <a:r>
              <a:rPr lang="en-US" altLang="ko-KR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ethtool</a:t>
            </a:r>
            <a:r>
              <a:rPr lang="en-US" altLang="ko-KR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-N eth1 flow-type tcp4 ... queue 15</a:t>
            </a:r>
          </a:p>
        </p:txBody>
      </p:sp>
    </p:spTree>
    <p:extLst>
      <p:ext uri="{BB962C8B-B14F-4D97-AF65-F5344CB8AC3E}">
        <p14:creationId xmlns:p14="http://schemas.microsoft.com/office/powerpoint/2010/main" val="323244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89F29-D1E5-5443-04B4-784C51AC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CFB56730-EDAB-95A1-219D-627B3C62C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51"/>
            <a:ext cx="10515600" cy="1325563"/>
          </a:xfrm>
        </p:spPr>
        <p:txBody>
          <a:bodyPr/>
          <a:lstStyle/>
          <a:p>
            <a:r>
              <a:rPr lang="en-US" altLang="ko-KR" dirty="0"/>
              <a:t>RX Side Programming #1. </a:t>
            </a:r>
            <a:r>
              <a:rPr lang="en-US" altLang="ko-KR" dirty="0" err="1"/>
              <a:t>netlink</a:t>
            </a:r>
            <a:r>
              <a:rPr lang="en-US" altLang="ko-KR" dirty="0"/>
              <a:t> configure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D824BF-9577-6B8E-6FC2-6282E2F72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64" y="1358614"/>
            <a:ext cx="10964072" cy="51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2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6ABA-6E90-65AE-2C77-A689008A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ED38419E-F817-5FD8-7BD3-8C8911B07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51"/>
            <a:ext cx="10515600" cy="1325563"/>
          </a:xfrm>
        </p:spPr>
        <p:txBody>
          <a:bodyPr/>
          <a:lstStyle/>
          <a:p>
            <a:r>
              <a:rPr lang="en-US" altLang="ko-KR" dirty="0"/>
              <a:t>RX Side Programming #2. </a:t>
            </a:r>
            <a:r>
              <a:rPr lang="en-US" altLang="ko-KR" dirty="0" err="1"/>
              <a:t>recvmsg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480723-9247-372F-0CD1-F5BB31769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18" y="1358614"/>
            <a:ext cx="11383964" cy="5334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417586A-5A7B-1206-BC9C-1ECAEC54C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11" y="2516032"/>
            <a:ext cx="11424471" cy="376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60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C56E7-43B7-C626-9F08-8E909283A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E4ADCDCE-215D-7268-B2F6-49BDC3714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51"/>
            <a:ext cx="10515600" cy="1325563"/>
          </a:xfrm>
        </p:spPr>
        <p:txBody>
          <a:bodyPr/>
          <a:lstStyle/>
          <a:p>
            <a:r>
              <a:rPr lang="en-US" altLang="ko-KR" dirty="0"/>
              <a:t>RX Side Programming #2. </a:t>
            </a:r>
            <a:r>
              <a:rPr lang="en-US" altLang="ko-KR" dirty="0" err="1"/>
              <a:t>recvmsg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4B77706-6076-4BDA-F508-0EA129DDC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22" y="1358614"/>
            <a:ext cx="8875955" cy="532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26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35861-0532-FA57-DC68-71A6C989D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54A049E-2243-B4DE-2D75-279FECC2E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51"/>
            <a:ext cx="10515600" cy="1325563"/>
          </a:xfrm>
        </p:spPr>
        <p:txBody>
          <a:bodyPr/>
          <a:lstStyle/>
          <a:p>
            <a:r>
              <a:rPr lang="en-US" altLang="ko-KR" dirty="0"/>
              <a:t>RX Side Programming #3. </a:t>
            </a:r>
            <a:r>
              <a:rPr lang="en-US" altLang="ko-KR" dirty="0" err="1"/>
              <a:t>setsockopt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CD217D4-E945-9FC3-6CD4-1B846CA12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788920"/>
            <a:ext cx="9693105" cy="19439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9F8B6C9-1AAD-6CC1-9033-25D9A94ED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93" y="4614708"/>
            <a:ext cx="9656116" cy="77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93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D3889-6DDF-02C0-A836-74DDAB4E6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FBA344E-0DD1-D258-2368-624438D96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029"/>
            <a:ext cx="10515600" cy="1325563"/>
          </a:xfrm>
        </p:spPr>
        <p:txBody>
          <a:bodyPr/>
          <a:lstStyle/>
          <a:p>
            <a:r>
              <a:rPr lang="en-US" altLang="ko-KR" dirty="0"/>
              <a:t>  Profiling # 1. TCP/IP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AB860E-9E51-2AEB-6AB0-AB111D438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8592"/>
            <a:ext cx="12192000" cy="547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1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A387B-F00E-2368-E985-D708D4B35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3A3255E-C0E3-26CF-AD29-47C3C2ED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029"/>
            <a:ext cx="10515600" cy="1325563"/>
          </a:xfrm>
        </p:spPr>
        <p:txBody>
          <a:bodyPr/>
          <a:lstStyle/>
          <a:p>
            <a:r>
              <a:rPr lang="en-US" altLang="ko-KR" dirty="0"/>
              <a:t>  Profiling # 2. </a:t>
            </a:r>
            <a:r>
              <a:rPr lang="en-US" altLang="ko-KR" dirty="0" err="1"/>
              <a:t>devmem</a:t>
            </a:r>
            <a:r>
              <a:rPr lang="en-US" altLang="ko-KR" dirty="0"/>
              <a:t> </a:t>
            </a:r>
            <a:r>
              <a:rPr lang="en-US" altLang="ko-KR" dirty="0" err="1"/>
              <a:t>tcp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295028-DFAD-1A07-47CC-A6F114077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563"/>
            <a:ext cx="12192000" cy="547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80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CE7D2-DE74-161B-4C73-E35507C41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922E845-C89E-E374-DAF0-8E774A8F4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029"/>
            <a:ext cx="10515600" cy="1325563"/>
          </a:xfrm>
        </p:spPr>
        <p:txBody>
          <a:bodyPr/>
          <a:lstStyle/>
          <a:p>
            <a:r>
              <a:rPr lang="en-US" altLang="ko-KR" dirty="0"/>
              <a:t>  Profiling # 3. memory bandwidth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9E2456-E98C-2C20-9FD6-649D5E86F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4"/>
          <a:stretch>
            <a:fillRect/>
          </a:stretch>
        </p:blipFill>
        <p:spPr>
          <a:xfrm>
            <a:off x="6096001" y="2474259"/>
            <a:ext cx="6096000" cy="43837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3BD4E32-3B26-467E-86AD-C5D20FA5D6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6"/>
          <a:stretch>
            <a:fillRect/>
          </a:stretch>
        </p:blipFill>
        <p:spPr>
          <a:xfrm>
            <a:off x="0" y="2474259"/>
            <a:ext cx="6096000" cy="4383741"/>
          </a:xfrm>
          <a:prstGeom prst="rect">
            <a:avLst/>
          </a:prstGeom>
        </p:spPr>
      </p:pic>
      <p:sp>
        <p:nvSpPr>
          <p:cNvPr id="10" name="제목 4">
            <a:extLst>
              <a:ext uri="{FF2B5EF4-FFF2-40B4-BE49-F238E27FC236}">
                <a16:creationId xmlns:a16="http://schemas.microsoft.com/office/drawing/2014/main" id="{E934BBC8-068D-AA51-4203-147F06A1F1D1}"/>
              </a:ext>
            </a:extLst>
          </p:cNvPr>
          <p:cNvSpPr txBox="1">
            <a:spLocks/>
          </p:cNvSpPr>
          <p:nvPr/>
        </p:nvSpPr>
        <p:spPr>
          <a:xfrm>
            <a:off x="7971417" y="1263644"/>
            <a:ext cx="23451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TCP/IP</a:t>
            </a:r>
            <a:endParaRPr lang="ko-KR" altLang="en-US" dirty="0"/>
          </a:p>
        </p:txBody>
      </p:sp>
      <p:sp>
        <p:nvSpPr>
          <p:cNvPr id="11" name="제목 4">
            <a:extLst>
              <a:ext uri="{FF2B5EF4-FFF2-40B4-BE49-F238E27FC236}">
                <a16:creationId xmlns:a16="http://schemas.microsoft.com/office/drawing/2014/main" id="{15ED5687-DD06-A329-8D1B-10C85396E64D}"/>
              </a:ext>
            </a:extLst>
          </p:cNvPr>
          <p:cNvSpPr txBox="1">
            <a:spLocks/>
          </p:cNvSpPr>
          <p:nvPr/>
        </p:nvSpPr>
        <p:spPr>
          <a:xfrm>
            <a:off x="1396701" y="1263643"/>
            <a:ext cx="33025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 err="1"/>
              <a:t>devmem</a:t>
            </a:r>
            <a:r>
              <a:rPr lang="en-US" altLang="ko-KR" dirty="0"/>
              <a:t> </a:t>
            </a:r>
            <a:r>
              <a:rPr lang="en-US" altLang="ko-KR" dirty="0" err="1"/>
              <a:t>tcp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9685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C3D64-7236-9616-839F-A4E1EE640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32C7B33-1368-8EC5-1640-17D54E7391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Q &amp; A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08652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447</TotalTime>
  <Words>162</Words>
  <Application>Microsoft Office PowerPoint</Application>
  <PresentationFormat>와이드스크린</PresentationFormat>
  <Paragraphs>61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맑은 고딕</vt:lpstr>
      <vt:lpstr>Arial</vt:lpstr>
      <vt:lpstr>Calibri</vt:lpstr>
      <vt:lpstr>Calibri Light</vt:lpstr>
      <vt:lpstr>Cascadia Code</vt:lpstr>
      <vt:lpstr>Cascadia Mono</vt:lpstr>
      <vt:lpstr>Office 테마</vt:lpstr>
      <vt:lpstr>Device Memory TCP 를 통한 효율적인 데이터 전송</vt:lpstr>
      <vt:lpstr>PowerPoint 프레젠테이션</vt:lpstr>
      <vt:lpstr>PowerPoint 프레젠테이션</vt:lpstr>
      <vt:lpstr>PowerPoint 프레젠테이션</vt:lpstr>
      <vt:lpstr>Requirements</vt:lpstr>
      <vt:lpstr>NIC Setup</vt:lpstr>
      <vt:lpstr>RX Side Programming #1. netlink configure</vt:lpstr>
      <vt:lpstr>RX Side Programming #2. recvmsg()</vt:lpstr>
      <vt:lpstr>RX Side Programming #2. recvmsg()</vt:lpstr>
      <vt:lpstr>RX Side Programming #3. setsockopt()</vt:lpstr>
      <vt:lpstr>  Profiling # 1. TCP/IP </vt:lpstr>
      <vt:lpstr>  Profiling # 2. devmem tcp</vt:lpstr>
      <vt:lpstr>  Profiling # 3. memory bandwidth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연수 문</dc:creator>
  <cp:lastModifiedBy>연수 문</cp:lastModifiedBy>
  <cp:revision>257</cp:revision>
  <dcterms:created xsi:type="dcterms:W3CDTF">2025-09-10T10:04:51Z</dcterms:created>
  <dcterms:modified xsi:type="dcterms:W3CDTF">2025-09-16T21:43:24Z</dcterms:modified>
</cp:coreProperties>
</file>
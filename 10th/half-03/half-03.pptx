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3" r:id="rId2"/>
    <p:sldId id="302" r:id="rId3"/>
    <p:sldId id="303" r:id="rId4"/>
    <p:sldId id="304" r:id="rId5"/>
    <p:sldId id="321" r:id="rId6"/>
    <p:sldId id="306" r:id="rId7"/>
    <p:sldId id="322" r:id="rId8"/>
    <p:sldId id="320" r:id="rId9"/>
    <p:sldId id="333" r:id="rId10"/>
    <p:sldId id="326" r:id="rId11"/>
    <p:sldId id="327" r:id="rId12"/>
    <p:sldId id="313" r:id="rId13"/>
    <p:sldId id="335" r:id="rId14"/>
    <p:sldId id="312" r:id="rId15"/>
    <p:sldId id="307" r:id="rId16"/>
    <p:sldId id="319" r:id="rId17"/>
    <p:sldId id="328" r:id="rId18"/>
    <p:sldId id="329" r:id="rId19"/>
    <p:sldId id="332" r:id="rId20"/>
    <p:sldId id="316" r:id="rId21"/>
    <p:sldId id="330" r:id="rId22"/>
    <p:sldId id="315" r:id="rId23"/>
    <p:sldId id="33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본문" id="{1B54D0EB-10E6-4209-88F9-D55F695B4FB7}">
          <p14:sldIdLst>
            <p14:sldId id="273"/>
            <p14:sldId id="302"/>
            <p14:sldId id="303"/>
            <p14:sldId id="304"/>
            <p14:sldId id="321"/>
            <p14:sldId id="306"/>
            <p14:sldId id="322"/>
            <p14:sldId id="320"/>
            <p14:sldId id="333"/>
            <p14:sldId id="326"/>
            <p14:sldId id="327"/>
            <p14:sldId id="313"/>
            <p14:sldId id="335"/>
            <p14:sldId id="312"/>
            <p14:sldId id="307"/>
            <p14:sldId id="319"/>
            <p14:sldId id="328"/>
            <p14:sldId id="329"/>
            <p14:sldId id="332"/>
            <p14:sldId id="316"/>
            <p14:sldId id="330"/>
            <p14:sldId id="315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vpcnas-dm-08.cloudpc.lge.net\Userdata14$\chanho.min\Downloads\VulnerabilityList_linux_kernel_v5.4.268_250805_cvss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368050537177735E-2"/>
          <c:y val="4.3448744059742021E-2"/>
          <c:w val="0.92784016325488827"/>
          <c:h val="0.7862379524351716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Sheet1!$A$1:$A$13</c:f>
              <c:strCache>
                <c:ptCount val="13"/>
                <c:pt idx="0">
                  <c:v>v5.4</c:v>
                </c:pt>
                <c:pt idx="1">
                  <c:v>beanbird-5.4/4</c:v>
                </c:pt>
                <c:pt idx="2">
                  <c:v>beanbird-5.4/9</c:v>
                </c:pt>
                <c:pt idx="3">
                  <c:v>beanbird-5.4/14</c:v>
                </c:pt>
                <c:pt idx="4">
                  <c:v>beanbird-5.4/19</c:v>
                </c:pt>
                <c:pt idx="5">
                  <c:v>beanbird-5.4/24</c:v>
                </c:pt>
                <c:pt idx="6">
                  <c:v>beanbird-5.4/29</c:v>
                </c:pt>
                <c:pt idx="7">
                  <c:v>beanbird-5.4/34</c:v>
                </c:pt>
                <c:pt idx="8">
                  <c:v>beanbird-5.4/40</c:v>
                </c:pt>
                <c:pt idx="9">
                  <c:v>beanbird-5.4/44</c:v>
                </c:pt>
                <c:pt idx="10">
                  <c:v>beanbird-5.4/47</c:v>
                </c:pt>
                <c:pt idx="11">
                  <c:v>beanbird-5.4/54</c:v>
                </c:pt>
                <c:pt idx="12">
                  <c:v>beanbird-5.4/61</c:v>
                </c:pt>
              </c:strCache>
            </c:strRef>
          </c:cat>
          <c:val>
            <c:numRef>
              <c:f>Sheet1!$B$1:$B$13</c:f>
              <c:numCache>
                <c:formatCode>General</c:formatCode>
                <c:ptCount val="13"/>
                <c:pt idx="0">
                  <c:v>0</c:v>
                </c:pt>
                <c:pt idx="1">
                  <c:v>1798</c:v>
                </c:pt>
                <c:pt idx="2">
                  <c:v>61</c:v>
                </c:pt>
                <c:pt idx="3">
                  <c:v>31</c:v>
                </c:pt>
                <c:pt idx="4">
                  <c:v>47</c:v>
                </c:pt>
                <c:pt idx="5">
                  <c:v>119</c:v>
                </c:pt>
                <c:pt idx="6">
                  <c:v>38</c:v>
                </c:pt>
                <c:pt idx="7">
                  <c:v>73</c:v>
                </c:pt>
                <c:pt idx="8">
                  <c:v>46</c:v>
                </c:pt>
                <c:pt idx="9">
                  <c:v>44</c:v>
                </c:pt>
                <c:pt idx="10">
                  <c:v>41</c:v>
                </c:pt>
                <c:pt idx="11">
                  <c:v>148</c:v>
                </c:pt>
                <c:pt idx="1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5-44C7-93EE-085EDEAC6A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31347488"/>
        <c:axId val="1731360448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Sheet1!$A$1:$A$13</c:f>
              <c:strCache>
                <c:ptCount val="13"/>
                <c:pt idx="0">
                  <c:v>v5.4</c:v>
                </c:pt>
                <c:pt idx="1">
                  <c:v>beanbird-5.4/4</c:v>
                </c:pt>
                <c:pt idx="2">
                  <c:v>beanbird-5.4/9</c:v>
                </c:pt>
                <c:pt idx="3">
                  <c:v>beanbird-5.4/14</c:v>
                </c:pt>
                <c:pt idx="4">
                  <c:v>beanbird-5.4/19</c:v>
                </c:pt>
                <c:pt idx="5">
                  <c:v>beanbird-5.4/24</c:v>
                </c:pt>
                <c:pt idx="6">
                  <c:v>beanbird-5.4/29</c:v>
                </c:pt>
                <c:pt idx="7">
                  <c:v>beanbird-5.4/34</c:v>
                </c:pt>
                <c:pt idx="8">
                  <c:v>beanbird-5.4/40</c:v>
                </c:pt>
                <c:pt idx="9">
                  <c:v>beanbird-5.4/44</c:v>
                </c:pt>
                <c:pt idx="10">
                  <c:v>beanbird-5.4/47</c:v>
                </c:pt>
                <c:pt idx="11">
                  <c:v>beanbird-5.4/54</c:v>
                </c:pt>
                <c:pt idx="12">
                  <c:v>beanbird-5.4/61</c:v>
                </c:pt>
              </c:strCache>
            </c:strRef>
          </c:cat>
          <c:val>
            <c:numRef>
              <c:f>Sheet1!$C$1:$C$13</c:f>
              <c:numCache>
                <c:formatCode>General</c:formatCode>
                <c:ptCount val="13"/>
                <c:pt idx="0">
                  <c:v>0</c:v>
                </c:pt>
                <c:pt idx="1">
                  <c:v>1798</c:v>
                </c:pt>
                <c:pt idx="2">
                  <c:v>1859</c:v>
                </c:pt>
                <c:pt idx="3">
                  <c:v>1890</c:v>
                </c:pt>
                <c:pt idx="4">
                  <c:v>1937</c:v>
                </c:pt>
                <c:pt idx="5">
                  <c:v>2056</c:v>
                </c:pt>
                <c:pt idx="6">
                  <c:v>2094</c:v>
                </c:pt>
                <c:pt idx="7">
                  <c:v>2167</c:v>
                </c:pt>
                <c:pt idx="8">
                  <c:v>2213</c:v>
                </c:pt>
                <c:pt idx="9">
                  <c:v>2257</c:v>
                </c:pt>
                <c:pt idx="10">
                  <c:v>2298</c:v>
                </c:pt>
                <c:pt idx="11">
                  <c:v>2446</c:v>
                </c:pt>
                <c:pt idx="12">
                  <c:v>2452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C5-44C7-93EE-085EDEAC6A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1347488"/>
        <c:axId val="1731360448"/>
      </c:lineChart>
      <c:catAx>
        <c:axId val="173134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1360448"/>
        <c:crosses val="autoZero"/>
        <c:auto val="1"/>
        <c:lblAlgn val="ctr"/>
        <c:lblOffset val="100"/>
        <c:noMultiLvlLbl val="0"/>
      </c:catAx>
      <c:valAx>
        <c:axId val="1731360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1347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3"/>
    </a:solidFill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B96A6-51BB-4709-A600-BA97C5EFA67A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09130-8853-485F-8B95-B915E522F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8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09130-8853-485F-8B95-B915E522F2A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542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"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upstream-ready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"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software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development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refers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code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modification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that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prepared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formatted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way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that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suitable</a:t>
            </a:r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for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direct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integration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into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original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"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,"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project's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codebase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This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means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designed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compatible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project's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coding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version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control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system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review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processes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Key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aspects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of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upstream-ready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ko-KR" altLang="en-US" sz="12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Conforms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adhere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coding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style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naming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conventions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other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guidelines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used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Follows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Version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Control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endParaRPr lang="en-US" altLang="ko-KR" sz="12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submitted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using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project's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preferred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version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control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system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e.g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Git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follow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their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branching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merging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strategies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2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Appropriate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Commit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Messages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commit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message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accompanying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clearly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explain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purpose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context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of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changes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Sign</a:t>
            </a: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off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signed-off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indicating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author's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agreement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terms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of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project's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contribution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policy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Self-Contained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Ideally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single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self-contained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change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that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can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easily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reviewed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integrated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without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disrupting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other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parts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of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codebase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Communicated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Effectively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The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author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should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communicate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project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maintainers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explaining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and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potential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benefits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Why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submit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upstream-ready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Reduce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Maintenance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Costs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b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Avoid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Conflicts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By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merging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changes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you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reduce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risk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of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conflicts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future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releases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other</a:t>
            </a:r>
            <a:r>
              <a:rPr lang="ko-KR" altLang="en-US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modifications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CEFE-CE4C-4DF0-9A9E-3F1CC20E60D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49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DDAE3-2A7E-6352-1F32-1CABFFEBB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2A958D-4625-65F2-E2F2-EA5C70217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BFA2E-D83A-3466-F726-48308DA8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F3BF-A579-49C9-A25E-69418EC7EBF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9068B-0E80-6284-0BB6-FB6C8D03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947524-1CE7-0833-5A32-5DC1F0A3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36B03-ADA5-4A2A-86EA-8CEF30FD8FA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A1BF1E-D709-82AF-699B-B6B2CC078C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81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BE889-57F3-8DE2-EA29-1AC71BC1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60" y="0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131D6-74D9-C927-3C97-D8E13287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F3BF-A579-49C9-A25E-69418EC7EBF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D24F6-8961-41C9-E535-14B2726F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DC3549-9914-B408-04F1-EC0018F8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36B03-ADA5-4A2A-86EA-8CEF30FD8FA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6F240D-7959-978F-4F78-AB0A862A5D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2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4C7AB-B04B-023E-14E7-0B12E7F6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A41335-35CF-7CF4-0840-15B34EBA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F3BF-A579-49C9-A25E-69418EC7EBF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3ECF52-9585-FFD4-E17E-05AC6C7F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F69368-6CAB-CE67-6D61-18608CEB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36B03-ADA5-4A2A-86EA-8CEF30FD8FA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2AC3C6-E524-EE08-6BB6-2A47AB45D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4C7AB-B04B-023E-14E7-0B12E7F6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A41335-35CF-7CF4-0840-15B34EBA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F3BF-A579-49C9-A25E-69418EC7EBF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3ECF52-9585-FFD4-E17E-05AC6C7F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F69368-6CAB-CE67-6D61-18608CEB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36B03-ADA5-4A2A-86EA-8CEF30FD8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52A3E6-FD3C-EFEA-F1C9-C7C46236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A9677E-5112-FE8E-D466-DD336FC92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44498-32EF-584B-940B-93AA6E1E6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3F3BF-A579-49C9-A25E-69418EC7EBF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E4DFC-A7F0-B001-91BF-49B404DC7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2849D-2487-B1E8-D291-5F67B8367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36B03-ADA5-4A2A-86EA-8CEF30FD8FA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2B29AE-2B61-7F18-CA69-A15BF11B65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EBEA0C-B13F-D67B-95D5-7BD914FD4A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0306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G스마트체2.0 SemiBold" panose="020B0600000101010101" pitchFamily="50" charset="-127"/>
          <a:ea typeface="LG스마트체2.0 Semi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G스마트체2.0 Regular" panose="020B0600000101010101" pitchFamily="50" charset="-127"/>
          <a:ea typeface="LG스마트체2.0 Regular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G스마트체2.0 Regular" panose="020B0600000101010101" pitchFamily="50" charset="-127"/>
          <a:ea typeface="LG스마트체2.0 Regula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G스마트체2.0 Regular" panose="020B0600000101010101" pitchFamily="50" charset="-127"/>
          <a:ea typeface="LG스마트체2.0 Regula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G스마트체2.0 Regular" panose="020B0600000101010101" pitchFamily="50" charset="-127"/>
          <a:ea typeface="LG스마트체2.0 Regula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G스마트체2.0 Regular" panose="020B0600000101010101" pitchFamily="50" charset="-127"/>
          <a:ea typeface="LG스마트체2.0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chanho.min@lge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chanho.min@lge.co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chanho.min@lge.co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A3EAED-0415-B20D-C540-C9ADACDFD9BE}"/>
              </a:ext>
            </a:extLst>
          </p:cNvPr>
          <p:cNvSpPr txBox="1"/>
          <p:nvPr/>
        </p:nvSpPr>
        <p:spPr>
          <a:xfrm>
            <a:off x="533400" y="2975848"/>
            <a:ext cx="7268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Linux kernel </a:t>
            </a:r>
            <a:r>
              <a:rPr lang="ko-KR" altLang="en-US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제품화와 </a:t>
            </a:r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24017-26EA-E577-D70B-C58E0B1945A9}"/>
              </a:ext>
            </a:extLst>
          </p:cNvPr>
          <p:cNvSpPr txBox="1"/>
          <p:nvPr/>
        </p:nvSpPr>
        <p:spPr>
          <a:xfrm>
            <a:off x="533400" y="5228828"/>
            <a:ext cx="669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민찬호 책임연구원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C5E90-BF80-9687-70F0-23DC5B1F0691}"/>
              </a:ext>
            </a:extLst>
          </p:cNvPr>
          <p:cNvSpPr txBox="1"/>
          <p:nvPr/>
        </p:nvSpPr>
        <p:spPr>
          <a:xfrm>
            <a:off x="533400" y="5702161"/>
            <a:ext cx="6697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</a:t>
            </a:r>
            <a:r>
              <a:rPr lang="ko-KR" altLang="en-US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전자 </a:t>
            </a:r>
            <a:r>
              <a:rPr lang="en-US" altLang="ko-KR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CTO</a:t>
            </a:r>
            <a:r>
              <a:rPr lang="ko-KR" altLang="en-US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부문 </a:t>
            </a:r>
            <a:r>
              <a:rPr lang="en-US" altLang="ko-KR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SW</a:t>
            </a:r>
            <a:r>
              <a:rPr lang="ko-KR" altLang="en-US" sz="2000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센터</a:t>
            </a:r>
          </a:p>
        </p:txBody>
      </p:sp>
    </p:spTree>
    <p:extLst>
      <p:ext uri="{BB962C8B-B14F-4D97-AF65-F5344CB8AC3E}">
        <p14:creationId xmlns:p14="http://schemas.microsoft.com/office/powerpoint/2010/main" val="55607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About Me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1BABB-12FA-280F-FF68-B1858B233136}"/>
              </a:ext>
            </a:extLst>
          </p:cNvPr>
          <p:cNvSpPr txBox="1"/>
          <p:nvPr/>
        </p:nvSpPr>
        <p:spPr>
          <a:xfrm>
            <a:off x="533400" y="1951196"/>
            <a:ext cx="93125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 TV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SoC Linux Kernel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 commits in Linux kernel lz4,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squashfs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alsa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schedule, mm, drivers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arm64 lg1k Architecture maintenance</a:t>
            </a:r>
          </a:p>
        </p:txBody>
      </p:sp>
    </p:spTree>
    <p:extLst>
      <p:ext uri="{BB962C8B-B14F-4D97-AF65-F5344CB8AC3E}">
        <p14:creationId xmlns:p14="http://schemas.microsoft.com/office/powerpoint/2010/main" val="123915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개요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CFA82A-7D28-A0BC-7523-49CA73A2218F}"/>
              </a:ext>
            </a:extLst>
          </p:cNvPr>
          <p:cNvSpPr txBox="1"/>
          <p:nvPr/>
        </p:nvSpPr>
        <p:spPr>
          <a:xfrm>
            <a:off x="854948" y="1997154"/>
            <a:ext cx="88680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리눅스 커널 개발의 두 세계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 upstream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downstream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제품화 과정에서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사례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라인 개발과 함께하는 커널 제품화</a:t>
            </a:r>
            <a:br>
              <a:rPr lang="en-US" altLang="ko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3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 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과 </a:t>
            </a:r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Downstream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7638"/>
              </p:ext>
            </p:extLst>
          </p:nvPr>
        </p:nvGraphicFramePr>
        <p:xfrm>
          <a:off x="838200" y="2035334"/>
          <a:ext cx="10515600" cy="3383280"/>
        </p:xfrm>
        <a:graphic>
          <a:graphicData uri="http://schemas.openxmlformats.org/drawingml/2006/table">
            <a:tbl>
              <a:tblPr/>
              <a:tblGrid>
                <a:gridCol w="1774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4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특징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커뮤니티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 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Upstream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 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Downstream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 목표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모두를 위한 기술 발전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장기적 안정성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하나를 위한 출시 시점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 기능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비용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 속도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 deadline :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 기반 릴리스 주기 </a:t>
                      </a:r>
                      <a:b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Merge window: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two weeks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시장 주도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고정된 데드라인   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코드 베이스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Mainline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저장소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2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torvalds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tree)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mainline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에서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포크 된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vendor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BSP </a:t>
                      </a:r>
                      <a:b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사내 비공개 패치   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 프로세스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공개적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엄격함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메일링 리스트 기반   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내부적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즉각적인 기능에 초점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버그 수정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모두의 이익을 위해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업스트림에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제출   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사내에서 패치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거의 기여되지 않음   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핵심 지표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코드 품질</a:t>
                      </a:r>
                      <a:r>
                        <a:rPr lang="en-US" altLang="ko-KR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2000" b="0" i="0" u="none" strike="noStrike" kern="12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구조적 건전성   </a:t>
                      </a:r>
                      <a:endParaRPr lang="ko-KR" altLang="en-US" sz="2000" b="0" i="0" u="none" strike="noStrike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 출시일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74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Open downstream kernel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29247"/>
              </p:ext>
            </p:extLst>
          </p:nvPr>
        </p:nvGraphicFramePr>
        <p:xfrm>
          <a:off x="611777" y="2103120"/>
          <a:ext cx="11178209" cy="2651760"/>
        </p:xfrm>
        <a:graphic>
          <a:graphicData uri="http://schemas.openxmlformats.org/drawingml/2006/table">
            <a:tbl>
              <a:tblPr/>
              <a:tblGrid>
                <a:gridCol w="1521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9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sz="1800" b="1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 여부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 저장소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GitHub </a:t>
                      </a:r>
                      <a:r>
                        <a:rPr lang="ko-KR" altLang="en-US" sz="1800" b="1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링크 여부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Ubuntu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https://kernel.ubuntu.com/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GitHub </a:t>
                      </a:r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미러 없음</a:t>
                      </a:r>
                      <a:r>
                        <a:rPr lang="en-US" altLang="ko-KR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공식 </a:t>
                      </a:r>
                      <a:r>
                        <a:rPr lang="en-US" altLang="ko-KR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 </a:t>
                      </a:r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Android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https://android.googlesource.com/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https://github.com/aosp-mirror/kernel_common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RHEL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 </a:t>
                      </a:r>
                      <a:b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 포털</a:t>
                      </a:r>
                      <a: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CentOS Stream)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Red Hat GitLab, CentOS Stream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GitHub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공식 없음</a:t>
                      </a:r>
                      <a: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커뮤니티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포크 가능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Raspberry Pi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github.com/raspberrypi/linux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GitHub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 공개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BC0DC1-B691-ED42-A505-A9C228A19806}"/>
              </a:ext>
            </a:extLst>
          </p:cNvPr>
          <p:cNvSpPr txBox="1"/>
          <p:nvPr/>
        </p:nvSpPr>
        <p:spPr>
          <a:xfrm>
            <a:off x="533400" y="1279654"/>
            <a:ext cx="10961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Platform </a:t>
            </a:r>
            <a:r>
              <a:rPr lang="ko-KR" altLang="en-US" sz="20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표준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kernel </a:t>
            </a:r>
            <a:r>
              <a:rPr lang="ko-KR" altLang="en-US" sz="20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로써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downstream </a:t>
            </a:r>
            <a:r>
              <a:rPr lang="ko-KR" altLang="en-US" sz="20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이면서 공개되어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 </a:t>
            </a:r>
            <a:r>
              <a:rPr lang="ko-KR" altLang="en-US" sz="20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할수 있는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Kernel </a:t>
            </a:r>
            <a:endParaRPr lang="ko-KR" altLang="en-US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761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399" y="385048"/>
            <a:ext cx="564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Linux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</a:t>
            </a:r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kernel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의 제품화 과정  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1BABB-12FA-280F-FF68-B1858B233136}"/>
              </a:ext>
            </a:extLst>
          </p:cNvPr>
          <p:cNvSpPr txBox="1"/>
          <p:nvPr/>
        </p:nvSpPr>
        <p:spPr>
          <a:xfrm>
            <a:off x="663728" y="1246439"/>
            <a:ext cx="10855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개발의 시작점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보드 서포트 패키지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(BSP)  from SoC vendor 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SoC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공급업체가 제공하는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SW package (bootloader, custom kernel, drivers, kernel module)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기술 부채의 시작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BSP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커널은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LTS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버전에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SoC specific patch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적용된 상태   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개발의 원동력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 출시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공장 생산 등 외부의 고정된 데드라인   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BSP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위에 제품별 기능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버그 수정 등을 위한 자체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in-house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계속 쌓아 올림 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8C39618B-B86F-4085-2885-F7913F45BAB2}"/>
              </a:ext>
            </a:extLst>
          </p:cNvPr>
          <p:cNvSpPr/>
          <p:nvPr/>
        </p:nvSpPr>
        <p:spPr>
          <a:xfrm>
            <a:off x="1889763" y="3509546"/>
            <a:ext cx="6081849" cy="34834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Mainline kernel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80595F82-A7FF-ECA9-3080-51F3024CE8E2}"/>
              </a:ext>
            </a:extLst>
          </p:cNvPr>
          <p:cNvSpPr/>
          <p:nvPr/>
        </p:nvSpPr>
        <p:spPr>
          <a:xfrm>
            <a:off x="2582089" y="4204834"/>
            <a:ext cx="6081849" cy="348343"/>
          </a:xfrm>
          <a:prstGeom prst="chevron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SoC vendor kernel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7EB1EEB7-2D02-7365-7F4D-AB5A9122ADF5}"/>
              </a:ext>
            </a:extLst>
          </p:cNvPr>
          <p:cNvSpPr/>
          <p:nvPr/>
        </p:nvSpPr>
        <p:spPr>
          <a:xfrm>
            <a:off x="3239593" y="4926249"/>
            <a:ext cx="6081849" cy="348343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Product kernel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FF8A09BA-54D0-0730-A12E-DE6C643F879A}"/>
              </a:ext>
            </a:extLst>
          </p:cNvPr>
          <p:cNvSpPr/>
          <p:nvPr/>
        </p:nvSpPr>
        <p:spPr>
          <a:xfrm>
            <a:off x="3657600" y="3857889"/>
            <a:ext cx="452846" cy="3483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47FF7170-709E-8621-5606-53B62168B041}"/>
              </a:ext>
            </a:extLst>
          </p:cNvPr>
          <p:cNvSpPr/>
          <p:nvPr/>
        </p:nvSpPr>
        <p:spPr>
          <a:xfrm>
            <a:off x="4532809" y="4573550"/>
            <a:ext cx="452846" cy="348343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93C45E-D6F4-7996-8145-A646D6761FDC}"/>
              </a:ext>
            </a:extLst>
          </p:cNvPr>
          <p:cNvCxnSpPr/>
          <p:nvPr/>
        </p:nvCxnSpPr>
        <p:spPr>
          <a:xfrm>
            <a:off x="4985655" y="3884016"/>
            <a:ext cx="0" cy="27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7C8ABE8-2722-C62B-8D07-8C76016ECD12}"/>
              </a:ext>
            </a:extLst>
          </p:cNvPr>
          <p:cNvCxnSpPr/>
          <p:nvPr/>
        </p:nvCxnSpPr>
        <p:spPr>
          <a:xfrm>
            <a:off x="5381900" y="3897072"/>
            <a:ext cx="0" cy="27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90E8E99-6D0A-FC8E-F7FC-C51608F03192}"/>
              </a:ext>
            </a:extLst>
          </p:cNvPr>
          <p:cNvCxnSpPr/>
          <p:nvPr/>
        </p:nvCxnSpPr>
        <p:spPr>
          <a:xfrm>
            <a:off x="5381894" y="4582259"/>
            <a:ext cx="0" cy="278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41D19CA-29EA-C3B0-08DC-060A99E88603}"/>
              </a:ext>
            </a:extLst>
          </p:cNvPr>
          <p:cNvCxnSpPr/>
          <p:nvPr/>
        </p:nvCxnSpPr>
        <p:spPr>
          <a:xfrm>
            <a:off x="6091648" y="4608383"/>
            <a:ext cx="0" cy="278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D91C2F-83AB-8430-5999-678A979A439A}"/>
              </a:ext>
            </a:extLst>
          </p:cNvPr>
          <p:cNvSpPr txBox="1"/>
          <p:nvPr/>
        </p:nvSpPr>
        <p:spPr>
          <a:xfrm>
            <a:off x="5416185" y="3879799"/>
            <a:ext cx="270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SoC Vendor</a:t>
            </a:r>
            <a:r>
              <a:rPr lang="ko-KR" altLang="en-US" sz="120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120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specific patches</a:t>
            </a:r>
            <a:endParaRPr lang="ko-KR" altLang="en-US" sz="1200" dirty="0">
              <a:solidFill>
                <a:schemeClr val="bg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F79D3-C1D2-74EE-33F5-792FB9F0C5F5}"/>
              </a:ext>
            </a:extLst>
          </p:cNvPr>
          <p:cNvSpPr txBox="1"/>
          <p:nvPr/>
        </p:nvSpPr>
        <p:spPr>
          <a:xfrm>
            <a:off x="6387191" y="4579514"/>
            <a:ext cx="1942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In-house patches</a:t>
            </a:r>
            <a:endParaRPr lang="ko-KR" altLang="en-US" sz="1200" dirty="0">
              <a:solidFill>
                <a:schemeClr val="bg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108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In-house patch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는 왜생기는가</a:t>
            </a:r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?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1BABB-12FA-280F-FF68-B1858B233136}"/>
              </a:ext>
            </a:extLst>
          </p:cNvPr>
          <p:cNvSpPr txBox="1"/>
          <p:nvPr/>
        </p:nvSpPr>
        <p:spPr>
          <a:xfrm>
            <a:off x="533400" y="1346162"/>
            <a:ext cx="1119801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HW-specific drivers: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제품에만 들어가는 특수 하드웨어 드라이버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Quick bug fixes: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양산 직전 발견된 치명적 버그에 대한 긴급 수정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(upstream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보낼 시간이 없음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Custom features:  mainline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없는 우리 제품만의 차별화 기능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Performance tuning: upstream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이 받아주지 않을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특정 사용 환경에 과도하게 최적화된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'hacky'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 튜닝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Platform specific patch: 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라인에 없는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Platform specific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sytemcall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procfs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sysfs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interface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문제점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커널 버전업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(Rebase)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 비용 발생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패치가 쌓일수록 메인 라인과의 격차는 점점 더 벌어짐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-&gt; ‘Technical Debt'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00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Technical dept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4925338" y="969823"/>
            <a:ext cx="6816436" cy="531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69164c372c4629a747b0428c3fcfc0615fc1d832 (tag: submissions/42)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mm: add boundary limitation for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…….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a/mm/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b/mm/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ba78f1f1b1bd..5cbed9a380cb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a/mm/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b/mm/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-47,6 +47,7 @@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+#include &lt;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linux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auth.h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#include &lt;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linux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uaccess.h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#include &lt;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asm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cacheflush.h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-2118,7 +2119,13 @@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arch_get_unmapped_area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struct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file *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filp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unsigned long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if 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mmap_end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-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len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&gt;=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&amp;&amp;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&gt;=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mmap_min_addr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&amp;&amp;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(!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vma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||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+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len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&lt;=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vm_start_gap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vma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)) &amp;&amp;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(!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prev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||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&gt;=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vm_end_gap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prev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rgbClr val="C00000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                       return </a:t>
            </a:r>
            <a:r>
              <a:rPr lang="en-US" altLang="ko" sz="1000" dirty="0" err="1">
                <a:solidFill>
                  <a:srgbClr val="C00000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rgbClr val="C00000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if 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&gt; MMAP_PLI_LOW &amp;&amp;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&lt; MMAP_PLI_HIGH)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pr_debug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("%s(%d) %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s:addr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(%lx),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len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(%lx))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else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return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addr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……..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info.flags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= VM_UNMAPPED_AREA_TOPDOWN;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info.length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len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72B5E-7380-3146-62B0-92636568E7B7}"/>
              </a:ext>
            </a:extLst>
          </p:cNvPr>
          <p:cNvSpPr txBox="1"/>
          <p:nvPr/>
        </p:nvSpPr>
        <p:spPr>
          <a:xfrm>
            <a:off x="634660" y="1802132"/>
            <a:ext cx="357712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mmap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systemcall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custom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당장은 문제를 빠르게 해결하고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kernel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만 수정하면 되는 편리한 해결책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나중에 추가적인 재작업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유지 관리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중요한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systemcall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예상과 다르게 동작할 수 있음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493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4BBFB6-F327-4897-998D-C2A062E3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A01C99-F410-4782-CA36-98C4B71F0D43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Technical dept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EBF99FF-8F94-3756-268C-3C9877E71E3A}"/>
              </a:ext>
            </a:extLst>
          </p:cNvPr>
          <p:cNvSpPr txBox="1"/>
          <p:nvPr/>
        </p:nvSpPr>
        <p:spPr>
          <a:xfrm>
            <a:off x="5332199" y="1401081"/>
            <a:ext cx="6474182" cy="496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6c8a7df22c72aee935037c5141b93b21e6b7eb42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--git a/kernel/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sysctl.c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sysctl.c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old mode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new mode 100755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21be3bd06436..cbbb2dba1bcf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sysctl.c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sysctl.c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-1511,6 +1511,13 @@ static struct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ctl_table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vm_table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[] =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.mode           = 0644,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.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proc_handler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proc_doulongvec_minmax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},</a:t>
            </a:r>
            <a:b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procname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= "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sched_boost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",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.data           = 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sysctl_sched_boost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maxlen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=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sizeof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(unsigned int),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.mode           = 0644,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proc_handler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=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sched_boost_handler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.extra1         = 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neg_three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.extra2         = &amp;three,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},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…..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accent6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{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0A59A-EF26-A453-7F09-9575BCFA41AD}"/>
              </a:ext>
            </a:extLst>
          </p:cNvPr>
          <p:cNvSpPr txBox="1"/>
          <p:nvPr/>
        </p:nvSpPr>
        <p:spPr>
          <a:xfrm>
            <a:off x="533400" y="1479292"/>
            <a:ext cx="3974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sysctl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새로운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interface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mainline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없는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Platform specific kernel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vendor kernel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변경에 따라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platform porting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비용 증가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145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4F5944-A275-48AC-9441-EA19210F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4BDAC-6D9C-BE74-5124-A9873008B6BD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Technical dept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51BABB-12FA-280F-FF68-B1858B233136}"/>
              </a:ext>
            </a:extLst>
          </p:cNvPr>
          <p:cNvSpPr txBox="1"/>
          <p:nvPr/>
        </p:nvSpPr>
        <p:spPr>
          <a:xfrm>
            <a:off x="735874" y="1116988"/>
            <a:ext cx="10960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Inter"/>
              </a:rPr>
              <a:t>Every downstream-only patch is a loan taken against the future. The interest on this loan compounds with every new kernel release, making future maintenance exponentially more expensive. 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444E2E6C-D418-5E83-9DB4-14134DF7B9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024825"/>
              </p:ext>
            </p:extLst>
          </p:nvPr>
        </p:nvGraphicFramePr>
        <p:xfrm>
          <a:off x="2365616" y="2265374"/>
          <a:ext cx="8458097" cy="3724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01975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0647B7-6B2C-3EED-58BE-92BD0B2FD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C39036-A85B-87C6-F7A3-84DC62A33760}"/>
              </a:ext>
            </a:extLst>
          </p:cNvPr>
          <p:cNvSpPr txBox="1"/>
          <p:nvPr/>
        </p:nvSpPr>
        <p:spPr>
          <a:xfrm>
            <a:off x="533399" y="385048"/>
            <a:ext cx="7954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</a:t>
            </a:r>
            <a:r>
              <a:rPr lang="ko-KR" altLang="en-US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과 함께 개발하기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7AA04-106B-237F-7151-20D08ECAB681}"/>
              </a:ext>
            </a:extLst>
          </p:cNvPr>
          <p:cNvSpPr txBox="1"/>
          <p:nvPr/>
        </p:nvSpPr>
        <p:spPr>
          <a:xfrm>
            <a:off x="835226" y="1078748"/>
            <a:ext cx="1044237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Version control : Commit history, Commit log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 first –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현실적으로 어려움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mainline merge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 기다릴 수 없음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LKML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first: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community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통해  해결 할 수 없는가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상위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version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이나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LKML pending patch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찾아보기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LKML 의 </a:t>
            </a:r>
            <a:r>
              <a:rPr lang="ko-KR" altLang="en-US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reply는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의외로 빠르다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</a:t>
            </a:r>
            <a:r>
              <a:rPr lang="ko-KR" altLang="en-US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pstream-ready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upstream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할 수 있는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linux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coding style : checkpatch.pl, commit 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Singned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-off-by : author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명확히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Self-contained  – no build dependency, subsystem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구별</a:t>
            </a: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Avoid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Conflicts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with mainline ASAP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ko-KR" altLang="en-US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Maintainable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commit – mainline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conflict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최소화 하는 관리 가능한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commit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단위로 작성</a:t>
            </a:r>
            <a:endParaRPr lang="ko-KR" altLang="en-US" sz="2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960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Commit history - Version control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7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439782" y="2795938"/>
            <a:ext cx="5351419" cy="32108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471425751128 dq1-pwm: add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pwm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driver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a486df0ba62e dq1-spi: add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spi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driver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491aab016c8f arm64: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dts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separete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thermal-zone device node to..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451166a2df06 lgedq1_wdt.c: don't multiply the watchdog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timeleft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by two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e9cee532defc lgedq1_wdt.c: avoid uncontrolled reset on shutdown/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poweroff</a:t>
            </a: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5a75f35c7300 dq1-common: introduce the dq1-dma driver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7481838e3310 Linux 5.15.38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1df68326b8c0 Linux 5.15.37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979ee1ecc275 Linux 5.15.36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666a0084561b Linux 5.15.35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e6d9e5fff209 Linux 5.15.34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efa519cb92ea Linux 5.15.33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24a4e381116c Linux 5.15.32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739ffb44755f Linux 5.15.31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a76cedcc8462 dq1-lne: introduce the dq1-b0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lne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driver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d5106fe6707f arm64: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dts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dq1-b0-amba.dtsi: add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uart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[1-5] device node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9ab477296783 dq1-common: introduce dq1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pinctrl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pinmux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driver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</a:t>
            </a:r>
          </a:p>
        </p:txBody>
      </p:sp>
      <p:sp>
        <p:nvSpPr>
          <p:cNvPr id="8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6096000" y="1969163"/>
            <a:ext cx="5747657" cy="41664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9ae4ab1ade78 (tag: submissions/test612.2, tag: beanbird-6.12/1-rc1) media: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dvb_frontend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revive set/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get_property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callback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90c6aee33969 arm64: lg1k_defconfig: set VA_BITS to 39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55c8a2dfe60a net: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stmmac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add detecting PHY-node inside MAC-node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5cc2e1e2fb63 arm64: export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dcache_inv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clean_poc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d974069f017f arm64: lg1k_defconfig: enable CHRDEV_ALLOW_ALL_MAJOR_NUM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21adedfff3cf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chardev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Add CHRDEV_ALLOW_ALL_MAJOR_NUM options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bc1db7eccba6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support HWIRQ-to-VIRQ identical mapping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ca569bf8081f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Add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webos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verity target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6f25ca95f1a0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Change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-verity functions to extern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…..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eb78496b23ec arm: revert and clean lg1k support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adc218676eef (tag: v6.12) Linux 6.12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f66d6acccbc0 Merge tag 'x86_urgent_for_v6.12' of git://git.kernel.org/pub/scm/linux/kernel/git/tip/tip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4a5df3796467 Merge tag 'mm-hotfixes-stable-2024-11-16-15-33' of git://git.kernel.org/pub/scm/linux/kernel/git/akpm/mm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d1aa0c04294e mm: revert "mm: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shmem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fix data-race in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shmem_getattr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()"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……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21c1c6c7d732 Merge tag 'drm-xe-fixes-2024-11-14' of https://l.org/pub/scm/linux/kernel/git/kdave/linux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737f34137844 ocfs2: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uncache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inode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which has failed entering the group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pointers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31daa34315d4 crash,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powerpc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default to CRASH_DUMP=n on PPC_BOOK3S_32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a4a282daf1a1 mm/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mremap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fix address wraparound in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move_page_tables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BD7C1-8F60-91D4-054C-B11938BE8A4A}"/>
              </a:ext>
            </a:extLst>
          </p:cNvPr>
          <p:cNvSpPr txBox="1"/>
          <p:nvPr/>
        </p:nvSpPr>
        <p:spPr>
          <a:xfrm>
            <a:off x="439783" y="1692164"/>
            <a:ext cx="360714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Linux_v6.12_k8333.tar.gz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A3FB9-144A-3F47-242A-BF1C850DB7AB}"/>
              </a:ext>
            </a:extLst>
          </p:cNvPr>
          <p:cNvSpPr txBox="1"/>
          <p:nvPr/>
        </p:nvSpPr>
        <p:spPr>
          <a:xfrm>
            <a:off x="439782" y="1276103"/>
            <a:ext cx="3607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No commit history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02BEE-D016-0037-F682-C98D62182192}"/>
              </a:ext>
            </a:extLst>
          </p:cNvPr>
          <p:cNvSpPr txBox="1"/>
          <p:nvPr/>
        </p:nvSpPr>
        <p:spPr>
          <a:xfrm>
            <a:off x="439782" y="2228662"/>
            <a:ext cx="3607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In-house history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7DE45-6D7C-AF07-6BB3-56065ED9B196}"/>
              </a:ext>
            </a:extLst>
          </p:cNvPr>
          <p:cNvSpPr txBox="1"/>
          <p:nvPr/>
        </p:nvSpPr>
        <p:spPr>
          <a:xfrm>
            <a:off x="6096000" y="1522886"/>
            <a:ext cx="3607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mainline + in-house history</a:t>
            </a:r>
          </a:p>
        </p:txBody>
      </p:sp>
    </p:spTree>
    <p:extLst>
      <p:ext uri="{BB962C8B-B14F-4D97-AF65-F5344CB8AC3E}">
        <p14:creationId xmlns:p14="http://schemas.microsoft.com/office/powerpoint/2010/main" val="143328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72423D-9756-AA9D-FB61-38BC23BD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9BAC50-D002-CEAD-153D-977EB93E3579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Commit log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7" name="Google Shape;239;p38">
            <a:extLst>
              <a:ext uri="{FF2B5EF4-FFF2-40B4-BE49-F238E27FC236}">
                <a16:creationId xmlns:a16="http://schemas.microsoft.com/office/drawing/2014/main" id="{E97FE9CC-AA8E-28D9-A2B9-3D1EAA62A241}"/>
              </a:ext>
            </a:extLst>
          </p:cNvPr>
          <p:cNvSpPr txBox="1"/>
          <p:nvPr/>
        </p:nvSpPr>
        <p:spPr>
          <a:xfrm>
            <a:off x="533400" y="1307472"/>
            <a:ext cx="5037646" cy="38479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a4f8331ae8a36a2fd071a9477825b568a7cec493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XXXX &lt;aaaa.xxx@xxxx.com&gt;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[DTV01572676][NA]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Summary:Fix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FBDEV/DRM interleaving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[Description]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Fix FBDEV/DRM interleaving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[Root Cause]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NA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[Solution]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FBDEV should be removed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[Test Report]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1. Booting: OK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2. MM (secret garden) play: OK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3. capture IP function OK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4. UI, cursor OK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5. YT VR play OK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[Feature] = DRM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Change-Id: I8f1c9383826ff8efba705b1588a14b197678cf58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CR-Id: DTV01570308</a:t>
            </a:r>
          </a:p>
        </p:txBody>
      </p:sp>
      <p:sp>
        <p:nvSpPr>
          <p:cNvPr id="8" name="Google Shape;239;p38">
            <a:extLst>
              <a:ext uri="{FF2B5EF4-FFF2-40B4-BE49-F238E27FC236}">
                <a16:creationId xmlns:a16="http://schemas.microsoft.com/office/drawing/2014/main" id="{56A80B40-4ECF-7654-B80D-1C884C0F5F6A}"/>
              </a:ext>
            </a:extLst>
          </p:cNvPr>
          <p:cNvSpPr txBox="1"/>
          <p:nvPr/>
        </p:nvSpPr>
        <p:spPr>
          <a:xfrm>
            <a:off x="5982789" y="1307472"/>
            <a:ext cx="5543006" cy="50159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d7519c5ba007eb394ed900e3924086dbc3ece225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  <a:hlinkClick r:id="rId2"/>
              </a:rPr>
              <a:t>chanho.min@xxx.com</a:t>
            </a:r>
            <a:b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squashfs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add optional full compressed block caching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The commit 93e72b3c612adcaca1 ("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squashfs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migrate from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ll_rw_block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usage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to BIO") removed caching of compressed blocks in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SquashFS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causing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fio</a:t>
            </a: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performance regression in workloads with repeated file reads.  Without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caching, every read triggers disk I/O, severely impacting performance in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tools like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fio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.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This patch introduces a new CONFIG_SQUASHFS_COMP_CACHE_FULL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Kconfig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option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to enable caching of all compressed blocks, restoring performance to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pre-BIO migration levels.  When enabled, all pages in a BIO are cached in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the page cache, reducing disk I/O for repeated reads.  The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fio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test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results with this patch confirm the performance restoration: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For example,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fio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tests (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iodepth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=1,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numjobs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=1,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ioengine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=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psync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 show a notable performance restoration: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Disable CONFIG_SQUASHFS_COMP_CACHE_FULL: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IOPS=815, BW=102MiB/s (107MB/s)(6113MiB/60001msec)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Enable CONFIG_SQUASHFS_COMP_CACHE_FULL: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IOPS=2223, BW=278MiB/s (291MB/s)(16.3GiB/59999msec)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The tradeoff is increased memory usage due to caching all compressed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blocks.  The CONFIG_SQUASHFS_COMP_CACHE_FULL option allows users to enable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this feature selectively, balancing performance and memory usage for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workloads with frequent repeated reads.</a:t>
            </a:r>
          </a:p>
          <a:p>
            <a:pPr lvl="0">
              <a:lnSpc>
                <a:spcPct val="115000"/>
              </a:lnSpc>
            </a:pPr>
            <a:endParaRPr lang="en-US" altLang="ko" sz="8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Link: https://lkml.kernel.org/r/20250521072559.2389-1-chanho.min@lge.com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Signed-off-by: </a:t>
            </a:r>
            <a:r>
              <a:rPr lang="en-US" altLang="ko" sz="8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&lt;chanho.min@lge.com&gt;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Reviewed-by Phillip Lougher &lt;phillip@squashfs.org.uk&gt;</a:t>
            </a:r>
          </a:p>
          <a:p>
            <a:pPr lvl="0">
              <a:lnSpc>
                <a:spcPct val="115000"/>
              </a:lnSpc>
            </a:pPr>
            <a:r>
              <a:rPr lang="en-US" altLang="ko" sz="8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Signed-off-by: Andrew Morton &lt;akpm@linux-foundation.org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E9676-F398-4D33-2CC6-0505E4A887EE}"/>
              </a:ext>
            </a:extLst>
          </p:cNvPr>
          <p:cNvSpPr txBox="1"/>
          <p:nvPr/>
        </p:nvSpPr>
        <p:spPr>
          <a:xfrm>
            <a:off x="439782" y="938577"/>
            <a:ext cx="3607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custom commit log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DE2F42-48BC-4BE5-5E74-342B19BCF8C0}"/>
              </a:ext>
            </a:extLst>
          </p:cNvPr>
          <p:cNvSpPr txBox="1"/>
          <p:nvPr/>
        </p:nvSpPr>
        <p:spPr>
          <a:xfrm>
            <a:off x="5982788" y="901794"/>
            <a:ext cx="3607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mainline commit log</a:t>
            </a:r>
          </a:p>
        </p:txBody>
      </p:sp>
    </p:spTree>
    <p:extLst>
      <p:ext uri="{BB962C8B-B14F-4D97-AF65-F5344CB8AC3E}">
        <p14:creationId xmlns:p14="http://schemas.microsoft.com/office/powerpoint/2010/main" val="1364360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 first 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사례</a:t>
            </a:r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(1)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5798060" y="1345716"/>
            <a:ext cx="5789879" cy="390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cb297a3e433dbdcf7ad81e0564e7b804c941ff0d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&lt;abcdefg@gmail.com&gt;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Fix task stack corruption under __ARCH_WANT_INTERRUPTS_ON_CTXSW</a:t>
            </a:r>
          </a:p>
          <a:p>
            <a:pPr lvl="0">
              <a:lnSpc>
                <a:spcPct val="115000"/>
              </a:lnSpc>
            </a:pPr>
            <a:b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rt.c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3640ebbb466b..f42ae7fb5ec5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b/kernel/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sched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-1587,6 +1587,11 @@ static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push_rt_task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struct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rq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rq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if (!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next_task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return 0;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+#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ifdef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__ARCH_WANT_INTERRUPTS_ON_CTXSW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if (unlikely(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task_running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rq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next_task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return 0;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+#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endif</a:t>
            </a:r>
            <a:endParaRPr lang="en-US" altLang="ko" sz="1000" dirty="0">
              <a:solidFill>
                <a:schemeClr val="accent6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retry: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if (unlikely(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next_task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==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rq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-&gt;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curr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WARN_ON(1);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A645F-60A9-04E5-0FA9-7452FC56EB86}"/>
              </a:ext>
            </a:extLst>
          </p:cNvPr>
          <p:cNvSpPr txBox="1"/>
          <p:nvPr/>
        </p:nvSpPr>
        <p:spPr>
          <a:xfrm>
            <a:off x="508267" y="1391315"/>
            <a:ext cx="47004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양산직전에 발생한 불특정 하게 발생하는 </a:t>
            </a:r>
            <a:r>
              <a:rPr lang="en-US" altLang="ko-KR" dirty="0">
                <a:solidFill>
                  <a:schemeClr val="bg1"/>
                </a:solidFill>
              </a:rPr>
              <a:t>user app crash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특정 조건에서 </a:t>
            </a:r>
            <a:r>
              <a:rPr lang="en-US" altLang="ko-KR" dirty="0">
                <a:solidFill>
                  <a:schemeClr val="bg1"/>
                </a:solidFill>
              </a:rPr>
              <a:t>stack </a:t>
            </a:r>
            <a:r>
              <a:rPr lang="ko-KR" altLang="en-US" dirty="0">
                <a:solidFill>
                  <a:schemeClr val="bg1"/>
                </a:solidFill>
              </a:rPr>
              <a:t>이 </a:t>
            </a:r>
            <a:r>
              <a:rPr lang="en-US" altLang="ko-KR" dirty="0">
                <a:solidFill>
                  <a:schemeClr val="bg1"/>
                </a:solidFill>
              </a:rPr>
              <a:t>corruption </a:t>
            </a:r>
            <a:r>
              <a:rPr lang="ko-KR" altLang="en-US" dirty="0">
                <a:solidFill>
                  <a:schemeClr val="bg1"/>
                </a:solidFill>
              </a:rPr>
              <a:t>되는 현상 발견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Kernel scheduler </a:t>
            </a:r>
            <a:r>
              <a:rPr lang="ko-KR" altLang="en-US" dirty="0">
                <a:solidFill>
                  <a:schemeClr val="bg1"/>
                </a:solidFill>
              </a:rPr>
              <a:t>문제일 가능성을 확인하였지만 </a:t>
            </a:r>
            <a:r>
              <a:rPr lang="en-US" altLang="ko-KR" dirty="0">
                <a:solidFill>
                  <a:schemeClr val="bg1"/>
                </a:solidFill>
              </a:rPr>
              <a:t>confirm </a:t>
            </a:r>
            <a:r>
              <a:rPr lang="ko-KR" altLang="en-US" dirty="0">
                <a:solidFill>
                  <a:schemeClr val="bg1"/>
                </a:solidFill>
              </a:rPr>
              <a:t>하기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어려움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LKML</a:t>
            </a:r>
            <a:r>
              <a:rPr lang="ko-KR" altLang="en-US" dirty="0">
                <a:solidFill>
                  <a:schemeClr val="bg1"/>
                </a:solidFill>
              </a:rPr>
              <a:t>를 통한</a:t>
            </a:r>
            <a:r>
              <a:rPr lang="en-US" altLang="ko-KR" dirty="0">
                <a:solidFill>
                  <a:schemeClr val="bg1"/>
                </a:solidFill>
              </a:rPr>
              <a:t> patch apply 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-US" altLang="ko-KR" dirty="0">
                <a:solidFill>
                  <a:schemeClr val="bg1"/>
                </a:solidFill>
              </a:rPr>
              <a:t>kernel bug </a:t>
            </a:r>
            <a:r>
              <a:rPr lang="ko-KR" altLang="en-US" dirty="0">
                <a:solidFill>
                  <a:schemeClr val="bg1"/>
                </a:solidFill>
              </a:rPr>
              <a:t>인 것을 확인</a:t>
            </a:r>
            <a:br>
              <a:rPr lang="en-US" altLang="ko-KR" dirty="0">
                <a:solidFill>
                  <a:schemeClr val="bg1"/>
                </a:solidFill>
              </a:rPr>
            </a:b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lang="en-US" altLang="ko-KR" sz="16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 the problem is quite real..”</a:t>
            </a: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638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 first 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사례 </a:t>
            </a:r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(2)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5545185" y="938800"/>
            <a:ext cx="6342016" cy="549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c22397888f1eed98cd59f0a88f2a5f6925f80e15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  <a:hlinkClick r:id="rId2"/>
              </a:rPr>
              <a:t>chanho.min@abcdef.com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exec: make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de_thread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 freezable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Suspend fails due to the exec family of functions blocking the freezer.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The cause is that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de_thread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 sleeps in TASK_UNINTERRUPTIBLE waiting for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all sub-threads to die, and we have the deadlock if one of them is frozen.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This also can occur with the schedule() waiting for the group thread leader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to exit if it is frozen.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a/fs/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exec.c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b/fs/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exec.c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fc281b738a982..acc3a5536384c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a/fs/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exec.c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b/fs/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exec.c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-62,6 +62,7 @@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...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-1083,7 +1084,7 @@ static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de_thread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struct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task_struct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*tsk)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while (sig-&gt;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notify_count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__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set_current_state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(TASK_KILLABLE);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spin_unlock_irq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(lock);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rgbClr val="C00000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               schedule();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freezable_schedule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if (unlikely(__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fatal_signal_pending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(tsk)))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goto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killed;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cgroup_threadgroup_change_end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(tsk);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rgbClr val="C00000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                       schedule();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freezable_schedule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if (unlikely(__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fatal_signal_pending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(tsk)))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goto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killed;</a:t>
            </a:r>
            <a:endParaRPr lang="en-US" altLang="ko" sz="11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00984-EEF6-5895-56BB-A06C9C57048D}"/>
              </a:ext>
            </a:extLst>
          </p:cNvPr>
          <p:cNvSpPr txBox="1"/>
          <p:nvPr/>
        </p:nvSpPr>
        <p:spPr>
          <a:xfrm>
            <a:off x="533400" y="1887703"/>
            <a:ext cx="47442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Power off  sequence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suspend fail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정상적으로 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TV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꺼지지 않는 문제 발생</a:t>
            </a: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Process freeze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과정에서 </a:t>
            </a:r>
            <a:r>
              <a:rPr lang="en-US" altLang="ko-KR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de_thread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die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되지 않아 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deadlock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되는 것이 원인</a:t>
            </a: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exec() </a:t>
            </a:r>
            <a:r>
              <a:rPr lang="en-US" altLang="ko-KR" b="0" i="0" dirty="0" err="1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systemcall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b="0" i="0" dirty="0" err="1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de_thread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()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시스템의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freeze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안전하게 응답할 수 있도록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"freezable"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변경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하는 </a:t>
            </a:r>
            <a:r>
              <a:rPr lang="en-US" altLang="ko-KR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patch </a:t>
            </a:r>
            <a:r>
              <a:rPr lang="ko-KR" altLang="en-US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적용됨</a:t>
            </a:r>
            <a:endParaRPr lang="en-US" altLang="ko-KR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114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 first </a:t>
            </a:r>
            <a:r>
              <a:rPr lang="ko-KR" altLang="en-US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사례 </a:t>
            </a:r>
            <a:r>
              <a:rPr lang="en-US" altLang="ko-KR" sz="320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(3)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5669282" y="1240025"/>
            <a:ext cx="5921827" cy="478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b888a5f713e4d17faaaff24316585a4eb07f35b7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&lt;chanho.min@abcdef.com&gt;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ALSA: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pcm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Fix starvation on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down_write_nonblock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Commit 67ec1072b053 ("ALSA: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pcm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Fix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rwsem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deadlock for non-atomic PCM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stream") fixes deadlock for non-atomic PCM stream. But, This patch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causes another stuck.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If writer is RT thread and reader is a normal thread, the reader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thread will be difficult to get scheduled. It may not give chance to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release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readlocks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and writer gets stuck for a long time if they are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pinned to single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cpu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.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The deadlock described in the previous commit is because the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linux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rwsem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queues like a FIFO. So, we might need non-FIFO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not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non-block one.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My suggestion is that the writer gives reader a chance to be scheduled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by using the minimum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msleep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instaed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of spinning without blocking by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writer. Also, The *_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nonblock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may be changed to *_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nonfifo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appropriately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to this concept.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In terms of performance, when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trylock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is failed, this minimum periodic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msleep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will have the same performance as the tick-based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schedule()/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wake_up_q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97EFDC-F51A-FF16-72FB-89FB09F497C5}"/>
              </a:ext>
            </a:extLst>
          </p:cNvPr>
          <p:cNvSpPr txBox="1"/>
          <p:nvPr/>
        </p:nvSpPr>
        <p:spPr>
          <a:xfrm>
            <a:off x="533399" y="1887703"/>
            <a:ext cx="47439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ALSA </a:t>
            </a:r>
            <a:r>
              <a:rPr lang="ko-KR" altLang="en-US" dirty="0">
                <a:solidFill>
                  <a:schemeClr val="bg1"/>
                </a:solidFill>
              </a:rPr>
              <a:t>의 </a:t>
            </a:r>
            <a:r>
              <a:rPr lang="en-US" altLang="ko-KR" dirty="0" err="1">
                <a:solidFill>
                  <a:schemeClr val="bg1"/>
                </a:solidFill>
              </a:rPr>
              <a:t>pulseaudio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에서 </a:t>
            </a:r>
            <a:r>
              <a:rPr lang="en-US" altLang="ko-KR" dirty="0">
                <a:solidFill>
                  <a:schemeClr val="bg1"/>
                </a:solidFill>
              </a:rPr>
              <a:t>pending </a:t>
            </a:r>
            <a:r>
              <a:rPr lang="ko-KR" altLang="en-US" dirty="0">
                <a:solidFill>
                  <a:schemeClr val="bg1"/>
                </a:solidFill>
              </a:rPr>
              <a:t>되는 현상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ALSA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</a:t>
            </a:r>
            <a:r>
              <a:rPr lang="en-US" altLang="ko-KR" b="0" i="0" dirty="0" err="1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pcm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코드에서 </a:t>
            </a:r>
            <a:r>
              <a:rPr lang="en-US" altLang="ko-KR" b="0" i="0" dirty="0" err="1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down_write_nonblock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()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발생할 수 있는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starvation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방지하기 위해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lock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처리 로직을 개선</a:t>
            </a:r>
            <a:endParaRPr lang="en-US" altLang="ko-KR" b="0" i="0" dirty="0">
              <a:solidFill>
                <a:schemeClr val="bg1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highlight>
                <a:srgbClr val="181818"/>
              </a:highlight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ALSA </a:t>
            </a:r>
            <a:r>
              <a:rPr lang="ko-KR" altLang="en-US" dirty="0">
                <a:solidFill>
                  <a:schemeClr val="bg1"/>
                </a:solidFill>
              </a:rPr>
              <a:t>구조 변경으로 이후에는 해결 될 수 있는 문제 였으니 </a:t>
            </a:r>
            <a:r>
              <a:rPr lang="en-US" altLang="ko-KR" dirty="0">
                <a:solidFill>
                  <a:schemeClr val="bg1"/>
                </a:solidFill>
              </a:rPr>
              <a:t>critical issue</a:t>
            </a:r>
            <a:r>
              <a:rPr lang="ko-KR" altLang="en-US" dirty="0">
                <a:solidFill>
                  <a:schemeClr val="bg1"/>
                </a:solidFill>
              </a:rPr>
              <a:t>로 인정되어 </a:t>
            </a:r>
            <a:r>
              <a:rPr lang="en-US" altLang="ko-KR" dirty="0">
                <a:solidFill>
                  <a:schemeClr val="bg1"/>
                </a:solidFill>
              </a:rPr>
              <a:t>stable tree</a:t>
            </a:r>
            <a:r>
              <a:rPr lang="ko-KR" altLang="en-US" dirty="0">
                <a:solidFill>
                  <a:schemeClr val="bg1"/>
                </a:solidFill>
              </a:rPr>
              <a:t>에 반영됨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8287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76EFDB-7DCB-2F99-21C8-952189F7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E04D31-5F88-3300-3626-7C7E048F2F1D}"/>
              </a:ext>
            </a:extLst>
          </p:cNvPr>
          <p:cNvSpPr txBox="1"/>
          <p:nvPr/>
        </p:nvSpPr>
        <p:spPr>
          <a:xfrm>
            <a:off x="533400" y="385048"/>
            <a:ext cx="8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Upstream-ready: LKML</a:t>
            </a:r>
            <a:r>
              <a:rPr lang="ko-KR" altLang="en-US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를 통한 문제 해결</a:t>
            </a: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CB59EF31-3AC5-A1F6-8406-06E6243E93DA}"/>
              </a:ext>
            </a:extLst>
          </p:cNvPr>
          <p:cNvSpPr txBox="1"/>
          <p:nvPr/>
        </p:nvSpPr>
        <p:spPr>
          <a:xfrm>
            <a:off x="5608944" y="1309599"/>
            <a:ext cx="5921827" cy="478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93cc835b14c6f91d897dc04aa45de02cf3fb8be8 (tag: submissions/333)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&lt;chanho.min@lge.com&gt;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ensure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dm-init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waits for actual block device availability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a/drivers/md/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dm-init.c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b/drivers/md/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dm-init.c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81b8bbd1b63a..db2202662b7b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a/drivers/md/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dm-init.c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b/drivers/md/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dm-init.c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-299,10 +299,15 @@ static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__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dm_init_init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(void)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for 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= 0;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&lt; ARRAY_SIZE(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waitfor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if 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waitfor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[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])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dev_t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dev;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struct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block_device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bdev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DMINFO("waiting for device %s ...",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waitfor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[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]);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while 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early_lookup_bdev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waitfor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[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], &amp;dev))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        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fsleep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(5000);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while (!(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bdev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=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blkdev_get_no_open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(dev)))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fsleep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(5000);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blkdev_put_no_open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bdev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       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}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9EE30-6716-1B57-8EB6-342D8965C919}"/>
              </a:ext>
            </a:extLst>
          </p:cNvPr>
          <p:cNvSpPr txBox="1"/>
          <p:nvPr/>
        </p:nvSpPr>
        <p:spPr>
          <a:xfrm>
            <a:off x="384230" y="1189528"/>
            <a:ext cx="4998817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Power on</a:t>
            </a:r>
            <a:r>
              <a:rPr lang="ko-KR" altLang="en-US" dirty="0">
                <a:solidFill>
                  <a:schemeClr val="bg1"/>
                </a:solidFill>
              </a:rPr>
              <a:t>이 높은 확률로 안되는 현상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device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mapper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init</a:t>
            </a:r>
            <a:r>
              <a:rPr lang="ko-KR" altLang="en-US" dirty="0">
                <a:solidFill>
                  <a:schemeClr val="bg1"/>
                </a:solidFill>
              </a:rPr>
              <a:t>을 </a:t>
            </a:r>
            <a:r>
              <a:rPr lang="ko-KR" altLang="en-US" dirty="0" err="1">
                <a:solidFill>
                  <a:schemeClr val="bg1"/>
                </a:solidFill>
              </a:rPr>
              <a:t>mmc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ready</a:t>
            </a:r>
            <a:r>
              <a:rPr lang="ko-KR" altLang="en-US" dirty="0">
                <a:solidFill>
                  <a:schemeClr val="bg1"/>
                </a:solidFill>
              </a:rPr>
              <a:t> 이후에 수행하기위해 </a:t>
            </a:r>
            <a:r>
              <a:rPr lang="en-US" altLang="ko-KR" dirty="0">
                <a:solidFill>
                  <a:schemeClr val="bg1"/>
                </a:solidFill>
              </a:rPr>
              <a:t>wait </a:t>
            </a:r>
            <a:r>
              <a:rPr lang="ko-KR" altLang="en-US" dirty="0">
                <a:solidFill>
                  <a:schemeClr val="bg1"/>
                </a:solidFill>
              </a:rPr>
              <a:t>하고 있으나  </a:t>
            </a:r>
            <a:r>
              <a:rPr lang="en-US" altLang="ko-KR" dirty="0">
                <a:solidFill>
                  <a:schemeClr val="bg1"/>
                </a:solidFill>
              </a:rPr>
              <a:t>mmc partition ready </a:t>
            </a:r>
            <a:r>
              <a:rPr lang="ko-KR" altLang="en-US" dirty="0">
                <a:solidFill>
                  <a:schemeClr val="bg1"/>
                </a:solidFill>
              </a:rPr>
              <a:t>전에 </a:t>
            </a:r>
            <a:r>
              <a:rPr lang="en-US" altLang="ko-KR" dirty="0">
                <a:solidFill>
                  <a:schemeClr val="bg1"/>
                </a:solidFill>
              </a:rPr>
              <a:t>check </a:t>
            </a:r>
            <a:r>
              <a:rPr lang="ko-KR" altLang="en-US" dirty="0">
                <a:solidFill>
                  <a:schemeClr val="bg1"/>
                </a:solidFill>
              </a:rPr>
              <a:t>하지 못하고 </a:t>
            </a:r>
            <a:r>
              <a:rPr lang="en-US" altLang="ko-KR" dirty="0">
                <a:solidFill>
                  <a:schemeClr val="bg1"/>
                </a:solidFill>
              </a:rPr>
              <a:t>return </a:t>
            </a:r>
            <a:r>
              <a:rPr lang="ko-KR" altLang="en-US" dirty="0">
                <a:solidFill>
                  <a:schemeClr val="bg1"/>
                </a:solidFill>
              </a:rPr>
              <a:t>하는 현상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</a:rPr>
              <a:t>early_lookup_bdev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함수의 </a:t>
            </a:r>
            <a:r>
              <a:rPr lang="en-US" altLang="ko-KR" dirty="0">
                <a:solidFill>
                  <a:schemeClr val="bg1"/>
                </a:solidFill>
              </a:rPr>
              <a:t>legacy code </a:t>
            </a:r>
            <a:r>
              <a:rPr lang="ko-KR" altLang="en-US" dirty="0">
                <a:solidFill>
                  <a:schemeClr val="bg1"/>
                </a:solidFill>
              </a:rPr>
              <a:t>에 의해 </a:t>
            </a:r>
            <a:r>
              <a:rPr lang="en-US" altLang="ko-KR" dirty="0">
                <a:solidFill>
                  <a:schemeClr val="bg1"/>
                </a:solidFill>
              </a:rPr>
              <a:t>partition ready </a:t>
            </a:r>
            <a:r>
              <a:rPr lang="ko-KR" altLang="en-US" dirty="0">
                <a:solidFill>
                  <a:schemeClr val="bg1"/>
                </a:solidFill>
              </a:rPr>
              <a:t>전에 </a:t>
            </a:r>
            <a:r>
              <a:rPr lang="en-US" altLang="ko-KR" dirty="0">
                <a:solidFill>
                  <a:schemeClr val="bg1"/>
                </a:solidFill>
              </a:rPr>
              <a:t>out </a:t>
            </a:r>
            <a:r>
              <a:rPr lang="ko-KR" altLang="en-US" dirty="0">
                <a:solidFill>
                  <a:schemeClr val="bg1"/>
                </a:solidFill>
              </a:rPr>
              <a:t>됨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MD RAID</a:t>
            </a:r>
            <a:r>
              <a:rPr lang="ko-KR" altLang="en-US" dirty="0">
                <a:solidFill>
                  <a:schemeClr val="bg1"/>
                </a:solidFill>
              </a:rPr>
              <a:t>에 최적화된 함수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이므로 문제는 있으나 수정할 수 없음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-&gt; DM </a:t>
            </a:r>
            <a:r>
              <a:rPr lang="ko-KR" altLang="en-US" dirty="0">
                <a:solidFill>
                  <a:schemeClr val="bg1"/>
                </a:solidFill>
              </a:rPr>
              <a:t>에서 </a:t>
            </a:r>
            <a:r>
              <a:rPr lang="en-US" altLang="ko-KR" dirty="0" err="1">
                <a:solidFill>
                  <a:schemeClr val="bg1"/>
                </a:solidFill>
              </a:rPr>
              <a:t>lookup_bdev</a:t>
            </a:r>
            <a:r>
              <a:rPr lang="ko-KR" altLang="en-US" dirty="0">
                <a:solidFill>
                  <a:schemeClr val="bg1"/>
                </a:solidFill>
              </a:rPr>
              <a:t>를 사용하지 않을 것을 권고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br>
              <a:rPr lang="en-US" altLang="ko-KR" dirty="0">
                <a:solidFill>
                  <a:schemeClr val="bg1"/>
                </a:solidFill>
              </a:rPr>
            </a:b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sz="1600" i="1" dirty="0">
                <a:solidFill>
                  <a:schemeClr val="bg1"/>
                </a:solidFill>
              </a:rPr>
              <a:t>Don't do this.  Md at least has a reason for doing this silly things as in the code as written in the 1990s where people did not know better.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74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5DF9B4-6B01-8E2B-855F-FFA454A6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E2936-7F44-7279-8CBD-E8BEDC14A35E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Maintainable patch (1)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16E60ECF-5138-F0F8-0278-02D6F6554923}"/>
              </a:ext>
            </a:extLst>
          </p:cNvPr>
          <p:cNvSpPr txBox="1"/>
          <p:nvPr/>
        </p:nvSpPr>
        <p:spPr>
          <a:xfrm>
            <a:off x="5339524" y="1097733"/>
            <a:ext cx="6319076" cy="478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fd7d59dc609234a9ddb63e4152171006d59d0ae0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power: lg1k: make user-resume devices suspend early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--git a/drivers/base/power/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main.c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b/drivers/base/power/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main.c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a/drivers/base/power/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main.c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b/drivers/base/power/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main.c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-1853,6 +1853,21 @@ int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dpm_suspend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pm_message_t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state)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mutex_lock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(&amp;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dpm_list_mtx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if (IS_ENABLED(CONFIG_ARCH_LG1K))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struct device *dev, *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tmpdev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struct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list_head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user_resume_list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INIT_LIST_HEAD(&amp;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user_resume_list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list_for_each_entry_safe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(dev,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tmpdev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dpm_prepared_list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power.entry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if 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is_userresume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(dev))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list_move_tail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(&amp;dev-&gt;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power.entry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                                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user_resume_list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/* suspend user-resume devices before normal ones */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list_splice_tail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user_resume_list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&amp;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dpm_prepared_list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}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while (!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list_empty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(&amp;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dpm_prepared_list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))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F272-FC66-732E-2155-4509310CCB76}"/>
              </a:ext>
            </a:extLst>
          </p:cNvPr>
          <p:cNvSpPr txBox="1"/>
          <p:nvPr/>
        </p:nvSpPr>
        <p:spPr>
          <a:xfrm>
            <a:off x="533400" y="1887703"/>
            <a:ext cx="4457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Architecture specific patch </a:t>
            </a:r>
            <a:r>
              <a:rPr lang="ko-KR" altLang="en-US" dirty="0">
                <a:solidFill>
                  <a:schemeClr val="bg1"/>
                </a:solidFill>
              </a:rPr>
              <a:t>와 </a:t>
            </a:r>
            <a:r>
              <a:rPr lang="en-US" altLang="ko-KR" dirty="0">
                <a:solidFill>
                  <a:schemeClr val="bg1"/>
                </a:solidFill>
              </a:rPr>
              <a:t>mainline code </a:t>
            </a:r>
            <a:r>
              <a:rPr lang="ko-KR" altLang="en-US" dirty="0">
                <a:solidFill>
                  <a:schemeClr val="bg1"/>
                </a:solidFill>
              </a:rPr>
              <a:t>의 명확한 구분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- rebase conflict cost </a:t>
            </a:r>
            <a:r>
              <a:rPr lang="ko-KR" altLang="en-US" dirty="0">
                <a:solidFill>
                  <a:schemeClr val="bg1"/>
                </a:solidFill>
              </a:rPr>
              <a:t>를 줄인다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765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F4BE89-FF2D-8A14-A68C-24BE03E2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1898A8-E75E-4174-0841-15952162F253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Maintainable patch (2)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BCB61207-D427-AAB2-892B-1F44074A28CE}"/>
              </a:ext>
            </a:extLst>
          </p:cNvPr>
          <p:cNvSpPr txBox="1"/>
          <p:nvPr/>
        </p:nvSpPr>
        <p:spPr>
          <a:xfrm>
            <a:off x="5599267" y="804361"/>
            <a:ext cx="6228078" cy="549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commit 304bb20d140e95026df902320e3f1f6f5c57739d (tag: submissions/53)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  <a:hlinkClick r:id="rId2"/>
              </a:rPr>
              <a:t>chanho.min@abcdef.com</a:t>
            </a:r>
            <a:b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mmc: sdhci-lg1k: disable suspend/resume for v4.51 host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This patch disables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/resume for v4.51. It is carried out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in bootloader, since it will mean a decrease of the total system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resume time.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Signed-off-by: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Min &lt;chanho.min@lge.com&gt;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diff --git a/drivers/mmc/core/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mmc.c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b/drivers/mmc/core/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index df771f4b49bf..c92a442aa737 100644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--- a/drivers/mmc/core/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+++ b/drivers/mmc/core/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mmc.c</a:t>
            </a: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@@ -1661,6 +1661,11 @@ static int 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(struct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mmc_host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*host, bool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is_suspend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static int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(struct 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mmc_host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*host)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int err;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struct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device_node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*np = host-&gt;parent-&gt;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of_node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if (np &amp;&amp; (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of_device_is_compatible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(np, "lge,lg1156-sdhci")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|| </a:t>
            </a:r>
            <a:r>
              <a:rPr lang="en-US" altLang="ko" sz="1000" dirty="0" err="1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of_device_is_compatible</a:t>
            </a: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(np, "lge,lg1k-sdhci-4.51")))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accent6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+               return 0;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err = _</a:t>
            </a:r>
            <a:r>
              <a:rPr lang="en-US" altLang="ko" sz="10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mmc_suspend</a:t>
            </a: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(host, true);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if (!err) {</a:t>
            </a:r>
          </a:p>
          <a:p>
            <a:pPr lvl="0">
              <a:lnSpc>
                <a:spcPct val="115000"/>
              </a:lnSpc>
            </a:pPr>
            <a:r>
              <a:rPr lang="en-US" altLang="ko" sz="10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</a:t>
            </a:r>
          </a:p>
          <a:p>
            <a:pPr lvl="0">
              <a:lnSpc>
                <a:spcPct val="115000"/>
              </a:lnSpc>
            </a:pPr>
            <a:endParaRPr lang="en-US" altLang="ko" sz="10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DEF4B-C7C2-AD59-9B5C-75FBBCA45F52}"/>
              </a:ext>
            </a:extLst>
          </p:cNvPr>
          <p:cNvSpPr txBox="1"/>
          <p:nvPr/>
        </p:nvSpPr>
        <p:spPr>
          <a:xfrm>
            <a:off x="533400" y="1673781"/>
            <a:ext cx="44577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Performance tunning</a:t>
            </a:r>
            <a:r>
              <a:rPr lang="ko-KR" altLang="en-US" dirty="0">
                <a:solidFill>
                  <a:schemeClr val="bg1"/>
                </a:solidFill>
              </a:rPr>
              <a:t>으로 </a:t>
            </a:r>
            <a:r>
              <a:rPr lang="en-US" altLang="ko-KR" dirty="0">
                <a:solidFill>
                  <a:schemeClr val="bg1"/>
                </a:solidFill>
              </a:rPr>
              <a:t>mainline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mmc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suspend/resume </a:t>
            </a:r>
            <a:r>
              <a:rPr lang="ko-KR" altLang="en-US" dirty="0">
                <a:solidFill>
                  <a:schemeClr val="bg1"/>
                </a:solidFill>
              </a:rPr>
              <a:t>를 우회하는 </a:t>
            </a:r>
            <a:r>
              <a:rPr lang="en-US" altLang="ko-KR" dirty="0">
                <a:solidFill>
                  <a:schemeClr val="bg1"/>
                </a:solidFill>
              </a:rPr>
              <a:t>patch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Subsystem core code</a:t>
            </a:r>
            <a:r>
              <a:rPr lang="ko-KR" altLang="en-US" dirty="0">
                <a:solidFill>
                  <a:schemeClr val="bg1"/>
                </a:solidFill>
              </a:rPr>
              <a:t>에 </a:t>
            </a:r>
            <a:r>
              <a:rPr lang="en-US" altLang="ko-KR" dirty="0">
                <a:solidFill>
                  <a:schemeClr val="bg1"/>
                </a:solidFill>
              </a:rPr>
              <a:t>driver specific code </a:t>
            </a:r>
            <a:r>
              <a:rPr lang="ko-KR" altLang="en-US" dirty="0">
                <a:solidFill>
                  <a:schemeClr val="bg1"/>
                </a:solidFill>
              </a:rPr>
              <a:t>적용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Device tree property </a:t>
            </a:r>
            <a:r>
              <a:rPr lang="ko-KR" altLang="en-US" dirty="0">
                <a:solidFill>
                  <a:schemeClr val="bg1"/>
                </a:solidFill>
              </a:rPr>
              <a:t>분기로 </a:t>
            </a:r>
            <a:r>
              <a:rPr lang="en-US" altLang="ko-KR" dirty="0">
                <a:solidFill>
                  <a:schemeClr val="bg1"/>
                </a:solidFill>
              </a:rPr>
              <a:t>mainline code </a:t>
            </a:r>
            <a:r>
              <a:rPr lang="ko-KR" altLang="en-US" dirty="0">
                <a:solidFill>
                  <a:schemeClr val="bg1"/>
                </a:solidFill>
              </a:rPr>
              <a:t>와 분리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509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1" y="385048"/>
            <a:ext cx="4759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Cherry-pick vs Merge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0FF20FA3-5947-44BD-A459-26CDBCBA40D3}"/>
              </a:ext>
            </a:extLst>
          </p:cNvPr>
          <p:cNvSpPr txBox="1"/>
          <p:nvPr/>
        </p:nvSpPr>
        <p:spPr>
          <a:xfrm>
            <a:off x="7191137" y="1423849"/>
            <a:ext cx="4409390" cy="368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chanho.min@ls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:~/linux-lg115x$ 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git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cherry-pick 0ca87e5063757132a044d35baba40a7d4bb25394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Author: Liu Jian &lt;liujian56@abcdef.com&gt;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Date: Tue Nov 12 21:54:34 2024 +0800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2 files changed, 11 insertions(+)</a:t>
            </a:r>
          </a:p>
          <a:p>
            <a:pPr lvl="0">
              <a:lnSpc>
                <a:spcPct val="115000"/>
              </a:lnSpc>
            </a:pPr>
            <a:b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b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chanho.min@ls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:~/make ARCH=arm64</a:t>
            </a:r>
            <a:b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…..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CC      fs/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nfs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read.o</a:t>
            </a: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sunrpc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svcsock.c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: In function ‘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svc_create_socket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’: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sunrpc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/svcsock.c:1466:3: error: implicit declaration of function ‘__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netns_tracker_free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’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1466 |   __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netns_tracker_free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(net, &amp;sock-&gt;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sk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-&gt;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ns_tracker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false);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|   ^~~~~~~~~~~~~~~~~~~~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net/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sunrpc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/svcsock.c:1466:38: error: ‘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struct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sock’ has no member named ‘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ns_tracker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’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1466 |   __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netns_tracker_free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(net, &amp;sock-&gt;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sk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-&gt;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ns_tracker</a:t>
            </a: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, false);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  |                                      ^~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….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91B84AB-D9E4-87CC-C6D7-1912DB51E5C9}"/>
              </a:ext>
            </a:extLst>
          </p:cNvPr>
          <p:cNvGrpSpPr/>
          <p:nvPr/>
        </p:nvGrpSpPr>
        <p:grpSpPr>
          <a:xfrm>
            <a:off x="1267282" y="3533947"/>
            <a:ext cx="4828718" cy="1865669"/>
            <a:chOff x="369057" y="2216613"/>
            <a:chExt cx="4828718" cy="186566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51D3D5B-D099-AF7E-C63B-D259565B5FBB}"/>
                </a:ext>
              </a:extLst>
            </p:cNvPr>
            <p:cNvSpPr/>
            <p:nvPr/>
          </p:nvSpPr>
          <p:spPr>
            <a:xfrm>
              <a:off x="369057" y="2216613"/>
              <a:ext cx="4828718" cy="20969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sunrpc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: fix one UAF issue caused by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sunrpc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 kernel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tcp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 socket</a:t>
              </a:r>
              <a:endParaRPr lang="ko-KR" altLang="en-US" sz="10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3BF62FF-84BB-E9BB-1BDD-2876A9FC320A}"/>
                </a:ext>
              </a:extLst>
            </p:cNvPr>
            <p:cNvSpPr/>
            <p:nvPr/>
          </p:nvSpPr>
          <p:spPr>
            <a:xfrm>
              <a:off x="823710" y="2678942"/>
              <a:ext cx="3278930" cy="20969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5000"/>
                </a:lnSpc>
              </a:pP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net: make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sock_inuse_add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() available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AF78AA7-6C20-A75B-FC2F-755553E62119}"/>
                </a:ext>
              </a:extLst>
            </p:cNvPr>
            <p:cNvSpPr/>
            <p:nvPr/>
          </p:nvSpPr>
          <p:spPr>
            <a:xfrm>
              <a:off x="1326129" y="3476638"/>
              <a:ext cx="3740569" cy="23598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5000"/>
                </a:lnSpc>
              </a:pP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net: add networking namespace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refcount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 tracker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13C1DD1-E121-EC2C-DBDC-617727B8B128}"/>
                </a:ext>
              </a:extLst>
            </p:cNvPr>
            <p:cNvSpPr/>
            <p:nvPr/>
          </p:nvSpPr>
          <p:spPr>
            <a:xfrm>
              <a:off x="832588" y="3094970"/>
              <a:ext cx="3758324" cy="20065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5000"/>
                </a:lnSpc>
              </a:pP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net: add a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refcount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 tracker for kernel sockets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854DF62-09D9-7031-3B88-5598BF41C899}"/>
                </a:ext>
              </a:extLst>
            </p:cNvPr>
            <p:cNvSpPr/>
            <p:nvPr/>
          </p:nvSpPr>
          <p:spPr>
            <a:xfrm>
              <a:off x="2068022" y="3846298"/>
              <a:ext cx="2834343" cy="23598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5000"/>
                </a:lnSpc>
              </a:pP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net: Use generic </a:t>
              </a:r>
              <a:r>
                <a:rPr lang="en-US" altLang="ko" sz="1000" dirty="0" err="1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ns_common</a:t>
              </a:r>
              <a:r>
                <a:rPr lang="en-US" altLang="ko" sz="1000" dirty="0">
                  <a:solidFill>
                    <a:schemeClr val="bg1"/>
                  </a:solidFill>
                  <a:latin typeface="Courier New" panose="02070309020205020404" pitchFamily="49" charset="0"/>
                  <a:ea typeface="LG스마트체 Regular" panose="020B0600000101010101" pitchFamily="50" charset="-127"/>
                  <a:cs typeface="Courier New" panose="02070309020205020404" pitchFamily="49" charset="0"/>
                </a:rPr>
                <a:t>::count</a:t>
              </a:r>
            </a:p>
          </p:txBody>
        </p: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FE6FADD1-3C64-6D88-E62D-F40512751455}"/>
                </a:ext>
              </a:extLst>
            </p:cNvPr>
            <p:cNvCxnSpPr>
              <a:stCxn id="7" idx="1"/>
            </p:cNvCxnSpPr>
            <p:nvPr/>
          </p:nvCxnSpPr>
          <p:spPr>
            <a:xfrm rot="10800000">
              <a:off x="727234" y="2426310"/>
              <a:ext cx="96476" cy="35748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20CB932C-A4B0-CD0B-346D-3913D8AF6C04}"/>
                </a:ext>
              </a:extLst>
            </p:cNvPr>
            <p:cNvCxnSpPr>
              <a:stCxn id="9" idx="1"/>
            </p:cNvCxnSpPr>
            <p:nvPr/>
          </p:nvCxnSpPr>
          <p:spPr>
            <a:xfrm rot="10800000">
              <a:off x="629580" y="2426310"/>
              <a:ext cx="203008" cy="76899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A35542A6-BA7B-B304-185E-BAB9D66C3A51}"/>
                </a:ext>
              </a:extLst>
            </p:cNvPr>
            <p:cNvCxnSpPr>
              <a:stCxn id="8" idx="1"/>
            </p:cNvCxnSpPr>
            <p:nvPr/>
          </p:nvCxnSpPr>
          <p:spPr>
            <a:xfrm rot="10800000">
              <a:off x="1259895" y="3295630"/>
              <a:ext cx="66235" cy="29900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1C666417-0227-61A3-B988-E23A8D368F63}"/>
                </a:ext>
              </a:extLst>
            </p:cNvPr>
            <p:cNvCxnSpPr>
              <a:stCxn id="10" idx="1"/>
            </p:cNvCxnSpPr>
            <p:nvPr/>
          </p:nvCxnSpPr>
          <p:spPr>
            <a:xfrm rot="10800000">
              <a:off x="1819188" y="3712622"/>
              <a:ext cx="248835" cy="251668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6AD5DB6-0068-EB1F-7B4C-7D1883C96B91}"/>
              </a:ext>
            </a:extLst>
          </p:cNvPr>
          <p:cNvSpPr txBox="1"/>
          <p:nvPr/>
        </p:nvSpPr>
        <p:spPr>
          <a:xfrm>
            <a:off x="350519" y="1061143"/>
            <a:ext cx="65612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Cherry-pick</a:t>
            </a:r>
            <a:r>
              <a:rPr lang="ko-KR" altLang="en-US" dirty="0">
                <a:solidFill>
                  <a:schemeClr val="bg1"/>
                </a:solidFill>
              </a:rPr>
              <a:t>은 특정 </a:t>
            </a:r>
            <a:r>
              <a:rPr lang="en-US" altLang="ko-KR" dirty="0">
                <a:solidFill>
                  <a:schemeClr val="bg1"/>
                </a:solidFill>
              </a:rPr>
              <a:t>CVE </a:t>
            </a:r>
            <a:r>
              <a:rPr lang="ko-KR" altLang="en-US" dirty="0">
                <a:solidFill>
                  <a:schemeClr val="bg1"/>
                </a:solidFill>
              </a:rPr>
              <a:t>패치만 빠르게 적용해야 하는 긴급 상황이나 안정화 </a:t>
            </a:r>
            <a:r>
              <a:rPr lang="ko-KR" altLang="en-US" dirty="0" err="1">
                <a:solidFill>
                  <a:schemeClr val="bg1"/>
                </a:solidFill>
              </a:rPr>
              <a:t>브랜치에서</a:t>
            </a:r>
            <a:r>
              <a:rPr lang="ko-KR" altLang="en-US" dirty="0">
                <a:solidFill>
                  <a:schemeClr val="bg1"/>
                </a:solidFill>
              </a:rPr>
              <a:t> 유리</a:t>
            </a:r>
            <a:r>
              <a:rPr lang="en-US" altLang="ko-KR" dirty="0">
                <a:solidFill>
                  <a:schemeClr val="bg1"/>
                </a:solidFill>
              </a:rPr>
              <a:t>.  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Merge</a:t>
            </a:r>
            <a:r>
              <a:rPr lang="ko-KR" altLang="en-US" dirty="0">
                <a:solidFill>
                  <a:schemeClr val="bg1"/>
                </a:solidFill>
              </a:rPr>
              <a:t>는 여러 </a:t>
            </a:r>
            <a:r>
              <a:rPr lang="en-US" altLang="ko-KR" dirty="0">
                <a:solidFill>
                  <a:schemeClr val="bg1"/>
                </a:solidFill>
              </a:rPr>
              <a:t>CVE </a:t>
            </a:r>
            <a:r>
              <a:rPr lang="ko-KR" altLang="en-US" dirty="0">
                <a:solidFill>
                  <a:schemeClr val="bg1"/>
                </a:solidFill>
              </a:rPr>
              <a:t>패치나 관련 변경 사항을 통합적으로 관리해야 하는 메인 </a:t>
            </a:r>
            <a:r>
              <a:rPr lang="ko-KR" altLang="en-US" dirty="0" err="1">
                <a:solidFill>
                  <a:schemeClr val="bg1"/>
                </a:solidFill>
              </a:rPr>
              <a:t>브랜치나</a:t>
            </a:r>
            <a:r>
              <a:rPr lang="ko-KR" altLang="en-US" dirty="0">
                <a:solidFill>
                  <a:schemeClr val="bg1"/>
                </a:solidFill>
              </a:rPr>
              <a:t> 장기적인 유지보수에 적합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Cherry-pick</a:t>
            </a:r>
            <a:r>
              <a:rPr lang="ko-KR" altLang="en-US" dirty="0">
                <a:solidFill>
                  <a:schemeClr val="bg1"/>
                </a:solidFill>
              </a:rPr>
              <a:t>은 성공하지만 </a:t>
            </a:r>
            <a:r>
              <a:rPr lang="en-US" altLang="ko-KR" dirty="0">
                <a:solidFill>
                  <a:schemeClr val="bg1"/>
                </a:solidFill>
              </a:rPr>
              <a:t>build fail or abnormal operation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 -&gt; Dependency Hell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A37396-EA7C-E30E-2107-1D8EE29CF92E}"/>
              </a:ext>
            </a:extLst>
          </p:cNvPr>
          <p:cNvSpPr txBox="1"/>
          <p:nvPr/>
        </p:nvSpPr>
        <p:spPr>
          <a:xfrm>
            <a:off x="411476" y="5564097"/>
            <a:ext cx="5955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Cherry-pick </a:t>
            </a:r>
            <a:r>
              <a:rPr lang="ko-KR" altLang="en-US" dirty="0">
                <a:solidFill>
                  <a:schemeClr val="bg1"/>
                </a:solidFill>
              </a:rPr>
              <a:t>간결하지만 </a:t>
            </a:r>
            <a:r>
              <a:rPr lang="en-US" altLang="ko-KR" dirty="0">
                <a:solidFill>
                  <a:schemeClr val="bg1"/>
                </a:solidFill>
              </a:rPr>
              <a:t>Merge </a:t>
            </a:r>
            <a:r>
              <a:rPr lang="ko-KR" altLang="en-US" dirty="0">
                <a:solidFill>
                  <a:schemeClr val="bg1"/>
                </a:solidFill>
              </a:rPr>
              <a:t>보다 안전하지 못하다</a:t>
            </a:r>
            <a:r>
              <a:rPr lang="en-US" altLang="ko-KR" dirty="0">
                <a:solidFill>
                  <a:schemeClr val="bg1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726714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64E5EA-9C38-12CE-48D0-38811BC1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B5962F-2928-0D65-7D82-EE6A4B74CDA7}"/>
              </a:ext>
            </a:extLst>
          </p:cNvPr>
          <p:cNvSpPr txBox="1"/>
          <p:nvPr/>
        </p:nvSpPr>
        <p:spPr>
          <a:xfrm>
            <a:off x="533400" y="385048"/>
            <a:ext cx="6398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Out-of-tree patch (</a:t>
            </a:r>
            <a:r>
              <a:rPr lang="en-US" altLang="ko-KR" sz="3200" dirty="0" err="1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yocto</a:t>
            </a:r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) 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5" name="Google Shape;239;p38">
            <a:extLst>
              <a:ext uri="{FF2B5EF4-FFF2-40B4-BE49-F238E27FC236}">
                <a16:creationId xmlns:a16="http://schemas.microsoft.com/office/drawing/2014/main" id="{5D586620-A75A-7365-C23A-61D504E79493}"/>
              </a:ext>
            </a:extLst>
          </p:cNvPr>
          <p:cNvSpPr txBox="1"/>
          <p:nvPr/>
        </p:nvSpPr>
        <p:spPr>
          <a:xfrm>
            <a:off x="6322993" y="1521944"/>
            <a:ext cx="5579886" cy="305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Linux-</a:t>
            </a:r>
            <a:r>
              <a:rPr lang="en-US" altLang="ko" sz="900" dirty="0" err="1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rockhopper.bbaapend</a:t>
            </a:r>
            <a:b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b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</a:b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PATCHTOOL = "git"</a:t>
            </a:r>
          </a:p>
          <a:p>
            <a:pPr lvl="0">
              <a:lnSpc>
                <a:spcPct val="115000"/>
              </a:lnSpc>
            </a:pPr>
            <a:endParaRPr lang="en-US" altLang="ko" sz="900" dirty="0">
              <a:solidFill>
                <a:schemeClr val="bg1"/>
              </a:solidFill>
              <a:latin typeface="Courier New" panose="02070309020205020404" pitchFamily="49" charset="0"/>
              <a:ea typeface="LG스마트체 Regular" panose="020B0600000101010101" pitchFamily="50" charset="-127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COMMON_PATCHES = "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file://0001-This-patch-fixes-kimage-tool-location.patch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file://0002-this-patch-fixes-lzopack-and-lz4pack-tools-locations.patch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file://0003-Support-new-toolchain-kernel-header-4.18.patch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file://0004-libtraceevent-Fix-build-with-binutils-2.35.patch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file://0005-perf-Make-perf-able-to-build-with-latest-libbfd.patch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file://0006-tools-lib-api-fs-Fix-gcc9-stringop-truncation-compil.patch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file://0007-scripts-dtc-Remove-redundant-YYLOC-global-declaratio.patch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file://0008-perf-tools-Force-fixdep-compilation-at-the-start-of-.patch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file://0009-Kbuild-fix-escaping-in-.cmd-files-for-future-Make.patch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file://0010-tools-build-fix-escaping-in-.cmd-files-for-future-Ma.patch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file://0011-arm64-module-fix-relocation-of-movz-instruction-with.patch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    file://0012-arm64-module-avoid-undefined-shift-behavior-in-reloc.patch \</a:t>
            </a:r>
          </a:p>
          <a:p>
            <a:pPr lvl="0">
              <a:lnSpc>
                <a:spcPct val="115000"/>
              </a:lnSpc>
            </a:pPr>
            <a:r>
              <a:rPr lang="en-US" altLang="ko" sz="900" dirty="0">
                <a:solidFill>
                  <a:schemeClr val="bg1"/>
                </a:solidFill>
                <a:latin typeface="Courier New" panose="02070309020205020404" pitchFamily="49" charset="0"/>
                <a:ea typeface="LG스마트체 Regular" panose="020B0600000101010101" pitchFamily="50" charset="-127"/>
                <a:cs typeface="Courier New" panose="02070309020205020404" pitchFamily="49" charset="0"/>
              </a:rPr>
              <a:t>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A13E8-4440-A5AE-A99E-4061760A04FF}"/>
              </a:ext>
            </a:extLst>
          </p:cNvPr>
          <p:cNvSpPr txBox="1"/>
          <p:nvPr/>
        </p:nvSpPr>
        <p:spPr>
          <a:xfrm>
            <a:off x="608480" y="1309503"/>
            <a:ext cx="5579886" cy="4579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Out-of-tree patch </a:t>
            </a:r>
            <a:r>
              <a:rPr lang="ko-KR" altLang="en-US" dirty="0">
                <a:solidFill>
                  <a:schemeClr val="bg1"/>
                </a:solidFill>
              </a:rPr>
              <a:t>는 변경 이력이 </a:t>
            </a:r>
            <a:r>
              <a:rPr lang="en-US" altLang="ko-KR" dirty="0">
                <a:solidFill>
                  <a:schemeClr val="bg1"/>
                </a:solidFill>
              </a:rPr>
              <a:t>main tree </a:t>
            </a:r>
            <a:r>
              <a:rPr lang="ko-KR" altLang="en-US" dirty="0">
                <a:solidFill>
                  <a:schemeClr val="bg1"/>
                </a:solidFill>
              </a:rPr>
              <a:t>에서 관리 되지 않음</a:t>
            </a:r>
            <a:r>
              <a:rPr lang="en-US" altLang="ko-KR" dirty="0">
                <a:solidFill>
                  <a:schemeClr val="bg1"/>
                </a:solidFill>
              </a:rPr>
              <a:t>. cherry-pick</a:t>
            </a:r>
            <a:r>
              <a:rPr lang="ko-KR" altLang="en-US" dirty="0">
                <a:solidFill>
                  <a:schemeClr val="bg1"/>
                </a:solidFill>
              </a:rPr>
              <a:t>으로 </a:t>
            </a:r>
            <a:r>
              <a:rPr lang="en-US" altLang="ko-KR" dirty="0">
                <a:solidFill>
                  <a:schemeClr val="bg1"/>
                </a:solidFill>
              </a:rPr>
              <a:t>main tree </a:t>
            </a:r>
            <a:r>
              <a:rPr lang="ko-KR" altLang="en-US" dirty="0">
                <a:solidFill>
                  <a:schemeClr val="bg1"/>
                </a:solidFill>
              </a:rPr>
              <a:t>에 직접 적용되어 </a:t>
            </a:r>
            <a:r>
              <a:rPr lang="en-US" altLang="ko-KR" dirty="0">
                <a:solidFill>
                  <a:schemeClr val="bg1"/>
                </a:solidFill>
              </a:rPr>
              <a:t>patch dependency</a:t>
            </a:r>
            <a:r>
              <a:rPr lang="ko-KR" altLang="en-US" dirty="0">
                <a:solidFill>
                  <a:schemeClr val="bg1"/>
                </a:solidFill>
              </a:rPr>
              <a:t>가 무시됨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-&gt; Main tree</a:t>
            </a:r>
            <a:r>
              <a:rPr lang="ko-KR" altLang="en-US" dirty="0">
                <a:solidFill>
                  <a:schemeClr val="bg1"/>
                </a:solidFill>
              </a:rPr>
              <a:t>와 </a:t>
            </a:r>
            <a:r>
              <a:rPr lang="en-US" altLang="ko-KR" dirty="0">
                <a:solidFill>
                  <a:schemeClr val="bg1"/>
                </a:solidFill>
              </a:rPr>
              <a:t>conflict </a:t>
            </a:r>
            <a:r>
              <a:rPr lang="ko-KR" altLang="en-US" dirty="0">
                <a:solidFill>
                  <a:schemeClr val="bg1"/>
                </a:solidFill>
              </a:rPr>
              <a:t>가능성 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Rebase cost</a:t>
            </a:r>
          </a:p>
          <a:p>
            <a:pPr marL="742950" lvl="1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Build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fail,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potential bug.</a:t>
            </a:r>
          </a:p>
          <a:p>
            <a:pPr marL="742950" lvl="1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Main tree</a:t>
            </a:r>
            <a:r>
              <a:rPr lang="ko-KR" altLang="en-US" dirty="0">
                <a:solidFill>
                  <a:schemeClr val="bg1"/>
                </a:solidFill>
              </a:rPr>
              <a:t>와 파편화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“Upstream-Status:” is mandatory</a:t>
            </a:r>
          </a:p>
          <a:p>
            <a:pPr lvl="0">
              <a:lnSpc>
                <a:spcPct val="115000"/>
              </a:lnSpc>
            </a:pPr>
            <a:br>
              <a:rPr lang="en-US" altLang="ko-KR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Upstream-Status:</a:t>
            </a:r>
            <a:br>
              <a:rPr lang="en-US" altLang="ko-KR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en-US" altLang="ko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anose="02070309020205020404" pitchFamily="49" charset="0"/>
              </a:rPr>
              <a:t>Submitted [link]:</a:t>
            </a:r>
          </a:p>
          <a:p>
            <a:pPr lvl="0">
              <a:lnSpc>
                <a:spcPct val="115000"/>
              </a:lnSpc>
            </a:pPr>
            <a:r>
              <a:rPr lang="en-US" altLang="ko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Merged [link]:</a:t>
            </a:r>
          </a:p>
          <a:p>
            <a:pPr lvl="0">
              <a:lnSpc>
                <a:spcPct val="115000"/>
              </a:lnSpc>
            </a:pPr>
            <a:r>
              <a:rPr lang="en-US" altLang="ko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Pending [reason]:</a:t>
            </a:r>
          </a:p>
          <a:p>
            <a:pPr lvl="0">
              <a:lnSpc>
                <a:spcPct val="115000"/>
              </a:lnSpc>
            </a:pPr>
            <a:r>
              <a:rPr lang="en-US" altLang="ko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Backport [link]:</a:t>
            </a:r>
          </a:p>
          <a:p>
            <a:pPr lvl="0">
              <a:lnSpc>
                <a:spcPct val="115000"/>
              </a:lnSpc>
            </a:pPr>
            <a:r>
              <a:rPr lang="en-US" altLang="ko" sz="14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anose="02070309020205020404" pitchFamily="49" charset="0"/>
              </a:rPr>
              <a:t>        Inappropriate [reason]: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3687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A8200-0514-C8D0-A881-38D8BE942791}"/>
              </a:ext>
            </a:extLst>
          </p:cNvPr>
          <p:cNvSpPr txBox="1"/>
          <p:nvPr/>
        </p:nvSpPr>
        <p:spPr>
          <a:xfrm>
            <a:off x="533400" y="385048"/>
            <a:ext cx="2265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Wrap up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1BABB-12FA-280F-FF68-B1858B233136}"/>
              </a:ext>
            </a:extLst>
          </p:cNvPr>
          <p:cNvSpPr txBox="1"/>
          <p:nvPr/>
        </p:nvSpPr>
        <p:spPr>
          <a:xfrm>
            <a:off x="598531" y="1409994"/>
            <a:ext cx="99955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Upstream first -&gt;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LKML first </a:t>
            </a:r>
            <a:endParaRPr lang="ko-KR" altLang="en-US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Prepare an upstream-ready patch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Maintainable patch only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Maintenance expertise  - NACK or 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Leader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인식 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Upstream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활동과</a:t>
            </a: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소스관리의 중요성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‘</a:t>
            </a:r>
            <a:r>
              <a:rPr lang="ko-KR" altLang="en-US" sz="20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어려운 문제를 효과적으로 해결</a:t>
            </a:r>
            <a:r>
              <a:rPr lang="en-US" altLang="ko-KR" sz="20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‘ vs ‘</a:t>
            </a:r>
            <a:r>
              <a:rPr lang="ko-KR" altLang="en-US" sz="20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소스 코드를 체계적으로 관리하여 오류를 미리 방지</a:t>
            </a:r>
            <a:r>
              <a:rPr lang="en-US" altLang="ko-KR" sz="2000" i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b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1142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0E84DC-D0A6-9437-89A8-CCD13B17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251A5-167E-BAF8-B101-5C360800111C}"/>
              </a:ext>
            </a:extLst>
          </p:cNvPr>
          <p:cNvSpPr txBox="1"/>
          <p:nvPr/>
        </p:nvSpPr>
        <p:spPr>
          <a:xfrm>
            <a:off x="533400" y="38504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END</a:t>
            </a:r>
            <a:endParaRPr lang="ko-KR" altLang="en-US" sz="3200" dirty="0">
              <a:solidFill>
                <a:schemeClr val="bg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93758-7CBF-A33E-D1C8-9B6D73AE993B}"/>
              </a:ext>
            </a:extLst>
          </p:cNvPr>
          <p:cNvSpPr txBox="1"/>
          <p:nvPr/>
        </p:nvSpPr>
        <p:spPr>
          <a:xfrm>
            <a:off x="617004" y="1359336"/>
            <a:ext cx="9553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6904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19195</TotalTime>
  <Words>4430</Words>
  <Application>Microsoft Office PowerPoint</Application>
  <PresentationFormat>와이드스크린</PresentationFormat>
  <Paragraphs>539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Inter</vt:lpstr>
      <vt:lpstr>LG스마트체 Light</vt:lpstr>
      <vt:lpstr>LG스마트체 Regular</vt:lpstr>
      <vt:lpstr>LG스마트체2.0 Regular</vt:lpstr>
      <vt:lpstr>LG스마트체2.0 SemiBold</vt:lpstr>
      <vt:lpstr>맑은 고딕</vt:lpstr>
      <vt:lpstr>Arial</vt:lpstr>
      <vt:lpstr>Calibri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</dc:creator>
  <cp:lastModifiedBy>민찬호/책임연구원/SW Platform(연)Advanced OS TP</cp:lastModifiedBy>
  <cp:revision>135</cp:revision>
  <dcterms:created xsi:type="dcterms:W3CDTF">2024-07-10T05:08:26Z</dcterms:created>
  <dcterms:modified xsi:type="dcterms:W3CDTF">2025-09-17T05:31:26Z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2025-09-10T03:45:13Z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74f6cfef-0fb3-4308-9b49-22144e0c568d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테마:9</vt:lpwstr>
  </property>
  <property fmtid="{D5CDD505-2E9C-101B-9397-08002B2CF9AE}" pid="10" name="ClassificationContentMarkingHeaderText">
    <vt:lpwstr>LGE Internal Use Only</vt:lpwstr>
  </property>
</Properties>
</file>